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05_0.xml" ContentType="application/vnd.ms-powerpoint.comments+xml"/>
  <Override PartName="/ppt/comments/modernComment_106_59261776.xml" ContentType="application/vnd.ms-powerpoint.comments+xml"/>
  <Override PartName="/ppt/comments/modernComment_108_A20A7C15.xml" ContentType="application/vnd.ms-powerpoint.comments+xml"/>
  <Override PartName="/ppt/comments/modernComment_109_2B5E3.xml" ContentType="application/vnd.ms-powerpoint.comments+xml"/>
  <Override PartName="/ppt/comments/modernComment_10A_7B30F391.xml" ContentType="application/vnd.ms-powerpoint.comments+xml"/>
  <Override PartName="/docMetadata/LabelInfo.xml" ContentType="application/vnd.ms-office.classificationlabels+xml"/>
  <Override PartName="/ppt/revisionInfo.xml" ContentType="application/vnd.ms-powerpoint.revision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0"/>
  </p:notesMasterIdLst>
  <p:sldIdLst>
    <p:sldId id="261" r:id="rId5"/>
    <p:sldId id="267" r:id="rId6"/>
    <p:sldId id="262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6" r:id="rId17"/>
    <p:sldId id="275" r:id="rId18"/>
    <p:sldId id="263" r:id="rId19"/>
  </p:sldIdLst>
  <p:sldSz cx="12192000" cy="6858000"/>
  <p:notesSz cx="6858000" cy="9144000"/>
  <p:defaultTextStyle>
    <a:defPPr>
      <a:defRPr lang="nl-B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EBFE55-3238-AAB6-6839-FB14A76A1F35}" name="Véronique De Leeuw (FOD VVVL - SPF SPSCAE)" initials="VS" userId="S::veronique.deleeuw@health.fgov.be::f5a29e54-e0ed-459c-a615-9541d74dde3c" providerId="AD"/>
  <p188:author id="{7FDB1B5B-6898-3E5D-D123-14A184A5B3D7}" name="Bo Vanhoof (FOD VVVL - SPF SPSCAE)" initials="BS" userId="S::bo.vanhoof@health.fgov.be::5409f2d4-da35-4f5f-997d-625bdb3bf8b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000000"/>
    <a:srgbClr val="5DB1AB"/>
    <a:srgbClr val="63B8A6"/>
    <a:srgbClr val="3A81D7"/>
    <a:srgbClr val="4092BE"/>
    <a:srgbClr val="337EC2"/>
    <a:srgbClr val="52A7B3"/>
    <a:srgbClr val="3786C0"/>
    <a:srgbClr val="3D85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74811A-F0FF-495C-3889-F7965A7010AF}" v="41" dt="2025-06-05T11:10:14.851"/>
    <p1510:client id="{5F17B004-EC62-4875-82C5-A862C2C4B493}" v="1" dt="2025-06-05T11:32:02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97" autoAdjust="0"/>
  </p:normalViewPr>
  <p:slideViewPr>
    <p:cSldViewPr snapToGrid="0">
      <p:cViewPr varScale="1">
        <p:scale>
          <a:sx n="73" d="100"/>
          <a:sy n="73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omments/modernComment_10A_7B30F39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FEB6D16-B06F-4DB6-9EC7-EA1D448B045E}" authorId="{7FDB1B5B-6898-3E5D-D123-14A184A5B3D7}" created="2025-06-05T11:10:14.85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66805649" sldId="266"/>
      <ac:spMk id="3" creationId="{391CD6D5-42E4-74A2-2D03-C9C10272FADE}"/>
      <ac:txMk cp="0" len="8">
        <ac:context len="10" hash="1626654974"/>
      </ac:txMk>
    </ac:txMkLst>
    <p188:pos x="1402521" y="231913"/>
    <p188:txBody>
      <a:bodyPr/>
      <a:lstStyle/>
      <a:p>
        <a:r>
          <a:rPr lang="en-US"/>
          <a:t>Please summarize the expected outcomes. 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2EBBF80-5BA2-4C1A-8D33-F160389FF773}" authorId="{7FDB1B5B-6898-3E5D-D123-14A184A5B3D7}" created="2025-06-05T11:08:36.6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1"/>
      <ac:spMk id="6146" creationId="{A696B567-7B7C-C85F-B738-F91CF742713C}"/>
      <ac:txMk cp="0" len="12">
        <ac:context len="13" hash="2688111941"/>
      </ac:txMk>
    </ac:txMkLst>
    <p188:pos x="3180521" y="342347"/>
    <p188:txBody>
      <a:bodyPr/>
      <a:lstStyle/>
      <a:p>
        <a:r>
          <a:rPr lang="en-US"/>
          <a:t>Please complete this template according to your own project.</a:t>
        </a:r>
      </a:p>
    </p188:txBody>
  </p188:cm>
</p188:cmLst>
</file>

<file path=ppt/comments/modernComment_106_592617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12BD93-4A89-4FCD-877D-915F9CE0658B}" authorId="{7FDB1B5B-6898-3E5D-D123-14A184A5B3D7}" created="2025-06-05T11:08:17.99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95668598" sldId="262"/>
      <ac:spMk id="2" creationId="{383F9BE1-86C1-B570-51DD-5AC154B11FA9}"/>
      <ac:txMk cp="0" len="10">
        <ac:context len="11" hash="2196604978"/>
      </ac:txMk>
    </ac:txMkLst>
    <p188:pos x="2849217" y="485913"/>
    <p188:txBody>
      <a:bodyPr/>
      <a:lstStyle/>
      <a:p>
        <a:r>
          <a:rPr lang="en-US"/>
          <a:t>Please use the following slide for each test scenario. </a:t>
        </a:r>
      </a:p>
    </p188:txBody>
  </p188:cm>
  <p188:cm id="{1B318876-750E-4E67-BEB5-87C5F0CFC8A8}" authorId="{7FDB1B5B-6898-3E5D-D123-14A184A5B3D7}" created="2025-06-05T11:09:27.78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95668598" sldId="262"/>
      <ac:spMk id="3" creationId="{CD655B8F-4EA0-E5DD-A7C9-23EEF029FEE5}"/>
      <ac:txMk cp="0" len="18">
        <ac:context len="20" hash="1681076064"/>
      </ac:txMk>
    </ac:txMkLst>
    <p188:pos x="3180521" y="231913"/>
    <p188:txBody>
      <a:bodyPr/>
      <a:lstStyle/>
      <a:p>
        <a:r>
          <a:rPr lang="en-US"/>
          <a:t>Please summarize the problem. </a:t>
        </a:r>
      </a:p>
    </p188:txBody>
  </p188:cm>
</p188:cmLst>
</file>

<file path=ppt/comments/modernComment_108_A20A7C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196250-6689-41C7-A60E-EA1B8071AEFC}" authorId="{7FDB1B5B-6898-3E5D-D123-14A184A5B3D7}" created="2025-06-05T11:09:07.95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18596117" sldId="264"/>
      <ac:spMk id="3" creationId="{130DE9B0-469D-5C75-BEB7-A213C24B7255}"/>
      <ac:txMk cp="0" len="14">
        <ac:context len="16" hash="1836305210"/>
      </ac:txMk>
    </ac:txMkLst>
    <p188:pos x="2252869" y="231913"/>
    <p188:txBody>
      <a:bodyPr/>
      <a:lstStyle/>
      <a:p>
        <a:r>
          <a:rPr lang="en-US"/>
          <a:t>Please indicate the scope of your project, as well as the FHIR resources that you will be using. </a:t>
        </a:r>
      </a:p>
    </p188:txBody>
  </p188:cm>
</p188:cmLst>
</file>

<file path=ppt/comments/modernComment_109_2B5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3540693-3D84-4293-9DA4-75BA1768079B}" authorId="{7FDB1B5B-6898-3E5D-D123-14A184A5B3D7}" created="2025-06-05T11:09:48.31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7635" sldId="265"/>
      <ac:spMk id="3" creationId="{F65D02EC-9223-AEB4-54DA-2A8166697497}"/>
      <ac:txMk cp="0" len="15">
        <ac:context len="17" hash="2060608667"/>
      </ac:txMk>
    </ac:txMkLst>
    <p188:pos x="2451652" y="231913"/>
    <p188:txBody>
      <a:bodyPr/>
      <a:lstStyle/>
      <a:p>
        <a:r>
          <a:rPr lang="en-US"/>
          <a:t>Please write down the architecture and information flow.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84536C-3762-AE5A-5999-9C01481E19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3253-78FC-4C95-591E-38C3B89594B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B84C18E1-4974-4A54-8C40-47944C8BF0C0}" type="datetimeFigureOut">
              <a:rPr lang="nl-BE"/>
              <a:pPr>
                <a:defRPr/>
              </a:pPr>
              <a:t>9/07/2025</a:t>
            </a:fld>
            <a:endParaRPr lang="nl-BE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07149B7-8E6F-C217-5EEE-BE285B1AD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nl-BE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1EB8079-8038-7C5B-F6F4-0A3798EB6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nl-BE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9096A-7B76-C3CA-422C-5B0933C103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BE0CB-942D-AF09-3969-2E3CCA9C5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7B1AF387-3A7A-4CB0-9323-922D65AD091A}" type="slidenum">
              <a:rPr lang="nl-BE"/>
              <a:pPr>
                <a:defRPr/>
              </a:pPr>
              <a:t>‹N°›</a:t>
            </a:fld>
            <a:endParaRPr lang="nl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2">
            <a:extLst>
              <a:ext uri="{FF2B5EF4-FFF2-40B4-BE49-F238E27FC236}">
                <a16:creationId xmlns:a16="http://schemas.microsoft.com/office/drawing/2014/main" id="{CB0C59EC-24C8-E51B-0A81-C6B94345228F}"/>
              </a:ext>
            </a:extLst>
          </p:cNvPr>
          <p:cNvGrpSpPr>
            <a:grpSpLocks/>
          </p:cNvGrpSpPr>
          <p:nvPr/>
        </p:nvGrpSpPr>
        <p:grpSpPr bwMode="auto">
          <a:xfrm>
            <a:off x="0" y="457200"/>
            <a:ext cx="9001125" cy="3965575"/>
            <a:chOff x="0" y="457199"/>
            <a:chExt cx="9000490" cy="396621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5CEA14C5-70E1-0B6E-31B4-6B30267C28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7199"/>
              <a:ext cx="9000008" cy="27418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A3CFD5DD-C534-5594-0E29-2ABFE3681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199061"/>
              <a:ext cx="9000490" cy="1224280"/>
            </a:xfrm>
            <a:custGeom>
              <a:avLst/>
              <a:gdLst>
                <a:gd name="T0" fmla="*/ 8999994 w 9000490"/>
                <a:gd name="T1" fmla="*/ 0 h 1224279"/>
                <a:gd name="T2" fmla="*/ 0 w 9000490"/>
                <a:gd name="T3" fmla="*/ 0 h 1224279"/>
                <a:gd name="T4" fmla="*/ 0 w 9000490"/>
                <a:gd name="T5" fmla="*/ 1224000 h 1224279"/>
                <a:gd name="T6" fmla="*/ 8748001 w 9000490"/>
                <a:gd name="T7" fmla="*/ 1224000 h 1224279"/>
                <a:gd name="T8" fmla="*/ 8793299 w 9000490"/>
                <a:gd name="T9" fmla="*/ 1219940 h 1224279"/>
                <a:gd name="T10" fmla="*/ 8835932 w 9000490"/>
                <a:gd name="T11" fmla="*/ 1208234 h 1224279"/>
                <a:gd name="T12" fmla="*/ 8875190 w 9000490"/>
                <a:gd name="T13" fmla="*/ 1189594 h 1224279"/>
                <a:gd name="T14" fmla="*/ 8910360 w 9000490"/>
                <a:gd name="T15" fmla="*/ 1164731 h 1224279"/>
                <a:gd name="T16" fmla="*/ 8940731 w 9000490"/>
                <a:gd name="T17" fmla="*/ 1134358 h 1224279"/>
                <a:gd name="T18" fmla="*/ 8965591 w 9000490"/>
                <a:gd name="T19" fmla="*/ 1099186 h 1224279"/>
                <a:gd name="T20" fmla="*/ 8984230 w 9000490"/>
                <a:gd name="T21" fmla="*/ 1059927 h 1224279"/>
                <a:gd name="T22" fmla="*/ 8995934 w 9000490"/>
                <a:gd name="T23" fmla="*/ 1017292 h 1224279"/>
                <a:gd name="T24" fmla="*/ 8999994 w 9000490"/>
                <a:gd name="T25" fmla="*/ 971994 h 1224279"/>
                <a:gd name="T26" fmla="*/ 8999994 w 9000490"/>
                <a:gd name="T27" fmla="*/ 0 h 1224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000490" h="1224279">
                  <a:moveTo>
                    <a:pt x="8999994" y="0"/>
                  </a:moveTo>
                  <a:lnTo>
                    <a:pt x="0" y="0"/>
                  </a:lnTo>
                  <a:lnTo>
                    <a:pt x="0" y="1224000"/>
                  </a:lnTo>
                  <a:lnTo>
                    <a:pt x="8748001" y="1224000"/>
                  </a:lnTo>
                  <a:lnTo>
                    <a:pt x="8793299" y="1219940"/>
                  </a:lnTo>
                  <a:lnTo>
                    <a:pt x="8835932" y="1208234"/>
                  </a:lnTo>
                  <a:lnTo>
                    <a:pt x="8875190" y="1189594"/>
                  </a:lnTo>
                  <a:lnTo>
                    <a:pt x="8910360" y="1164731"/>
                  </a:lnTo>
                  <a:lnTo>
                    <a:pt x="8940731" y="1134358"/>
                  </a:lnTo>
                  <a:lnTo>
                    <a:pt x="8965591" y="1099186"/>
                  </a:lnTo>
                  <a:lnTo>
                    <a:pt x="8984230" y="1059927"/>
                  </a:lnTo>
                  <a:lnTo>
                    <a:pt x="8995934" y="1017292"/>
                  </a:lnTo>
                  <a:lnTo>
                    <a:pt x="8999994" y="971994"/>
                  </a:lnTo>
                  <a:lnTo>
                    <a:pt x="8999994" y="0"/>
                  </a:lnTo>
                  <a:close/>
                </a:path>
              </a:pathLst>
            </a:custGeom>
            <a:solidFill>
              <a:srgbClr val="F5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nl-BE"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7918171F-A524-47CB-8CAE-7D1434173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787" y="3661838"/>
              <a:ext cx="284480" cy="284480"/>
            </a:xfrm>
            <a:custGeom>
              <a:avLst/>
              <a:gdLst>
                <a:gd name="T0" fmla="*/ 153822 w 284480"/>
                <a:gd name="T1" fmla="*/ 0 h 284479"/>
                <a:gd name="T2" fmla="*/ 110254 w 284480"/>
                <a:gd name="T3" fmla="*/ 3161 h 284479"/>
                <a:gd name="T4" fmla="*/ 69308 w 284480"/>
                <a:gd name="T5" fmla="*/ 19541 h 284479"/>
                <a:gd name="T6" fmla="*/ 34297 w 284480"/>
                <a:gd name="T7" fmla="*/ 48895 h 284479"/>
                <a:gd name="T8" fmla="*/ 10298 w 284480"/>
                <a:gd name="T9" fmla="*/ 87764 h 284479"/>
                <a:gd name="T10" fmla="*/ 0 w 284480"/>
                <a:gd name="T11" fmla="*/ 130640 h 284479"/>
                <a:gd name="T12" fmla="*/ 3159 w 284480"/>
                <a:gd name="T13" fmla="*/ 174208 h 284479"/>
                <a:gd name="T14" fmla="*/ 19537 w 284480"/>
                <a:gd name="T15" fmla="*/ 215155 h 284479"/>
                <a:gd name="T16" fmla="*/ 48890 w 284480"/>
                <a:gd name="T17" fmla="*/ 250165 h 284479"/>
                <a:gd name="T18" fmla="*/ 87760 w 284480"/>
                <a:gd name="T19" fmla="*/ 274170 h 284479"/>
                <a:gd name="T20" fmla="*/ 130638 w 284480"/>
                <a:gd name="T21" fmla="*/ 284472 h 284479"/>
                <a:gd name="T22" fmla="*/ 174208 w 284480"/>
                <a:gd name="T23" fmla="*/ 281312 h 284479"/>
                <a:gd name="T24" fmla="*/ 215154 w 284480"/>
                <a:gd name="T25" fmla="*/ 264932 h 284479"/>
                <a:gd name="T26" fmla="*/ 250159 w 284480"/>
                <a:gd name="T27" fmla="*/ 235573 h 284479"/>
                <a:gd name="T28" fmla="*/ 274166 w 284480"/>
                <a:gd name="T29" fmla="*/ 196702 h 284479"/>
                <a:gd name="T30" fmla="*/ 284470 w 284480"/>
                <a:gd name="T31" fmla="*/ 153824 h 284479"/>
                <a:gd name="T32" fmla="*/ 281312 w 284480"/>
                <a:gd name="T33" fmla="*/ 110254 h 284479"/>
                <a:gd name="T34" fmla="*/ 264931 w 284480"/>
                <a:gd name="T35" fmla="*/ 69308 h 284479"/>
                <a:gd name="T36" fmla="*/ 235567 w 284480"/>
                <a:gd name="T37" fmla="*/ 34303 h 284479"/>
                <a:gd name="T38" fmla="*/ 196698 w 284480"/>
                <a:gd name="T39" fmla="*/ 10299 h 284479"/>
                <a:gd name="T40" fmla="*/ 153822 w 284480"/>
                <a:gd name="T41" fmla="*/ 0 h 284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4480" h="284479">
                  <a:moveTo>
                    <a:pt x="153822" y="0"/>
                  </a:moveTo>
                  <a:lnTo>
                    <a:pt x="110254" y="3161"/>
                  </a:lnTo>
                  <a:lnTo>
                    <a:pt x="69308" y="19541"/>
                  </a:lnTo>
                  <a:lnTo>
                    <a:pt x="34297" y="48895"/>
                  </a:lnTo>
                  <a:lnTo>
                    <a:pt x="10298" y="87764"/>
                  </a:lnTo>
                  <a:lnTo>
                    <a:pt x="0" y="130640"/>
                  </a:lnTo>
                  <a:lnTo>
                    <a:pt x="3159" y="174208"/>
                  </a:lnTo>
                  <a:lnTo>
                    <a:pt x="19537" y="215155"/>
                  </a:lnTo>
                  <a:lnTo>
                    <a:pt x="48890" y="250165"/>
                  </a:lnTo>
                  <a:lnTo>
                    <a:pt x="87760" y="274170"/>
                  </a:lnTo>
                  <a:lnTo>
                    <a:pt x="130638" y="284472"/>
                  </a:lnTo>
                  <a:lnTo>
                    <a:pt x="174208" y="281312"/>
                  </a:lnTo>
                  <a:lnTo>
                    <a:pt x="215154" y="264932"/>
                  </a:lnTo>
                  <a:lnTo>
                    <a:pt x="250159" y="235573"/>
                  </a:lnTo>
                  <a:lnTo>
                    <a:pt x="274166" y="196702"/>
                  </a:lnTo>
                  <a:lnTo>
                    <a:pt x="284470" y="153824"/>
                  </a:lnTo>
                  <a:lnTo>
                    <a:pt x="281312" y="110254"/>
                  </a:lnTo>
                  <a:lnTo>
                    <a:pt x="264931" y="69308"/>
                  </a:lnTo>
                  <a:lnTo>
                    <a:pt x="235567" y="34303"/>
                  </a:lnTo>
                  <a:lnTo>
                    <a:pt x="196698" y="10299"/>
                  </a:lnTo>
                  <a:lnTo>
                    <a:pt x="153822" y="0"/>
                  </a:lnTo>
                  <a:close/>
                </a:path>
              </a:pathLst>
            </a:custGeom>
            <a:solidFill>
              <a:srgbClr val="317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nl-BE"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BA4C637E-EBA9-219B-C04F-06423346B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647" y="3353942"/>
              <a:ext cx="929005" cy="899160"/>
            </a:xfrm>
            <a:custGeom>
              <a:avLst/>
              <a:gdLst>
                <a:gd name="T0" fmla="*/ 411518 w 929005"/>
                <a:gd name="T1" fmla="*/ 777455 h 899160"/>
                <a:gd name="T2" fmla="*/ 372351 w 929005"/>
                <a:gd name="T3" fmla="*/ 699820 h 899160"/>
                <a:gd name="T4" fmla="*/ 344284 w 929005"/>
                <a:gd name="T5" fmla="*/ 661593 h 899160"/>
                <a:gd name="T6" fmla="*/ 342061 w 929005"/>
                <a:gd name="T7" fmla="*/ 658672 h 899160"/>
                <a:gd name="T8" fmla="*/ 158026 w 929005"/>
                <a:gd name="T9" fmla="*/ 430923 h 899160"/>
                <a:gd name="T10" fmla="*/ 122542 w 929005"/>
                <a:gd name="T11" fmla="*/ 341274 h 899160"/>
                <a:gd name="T12" fmla="*/ 112141 w 929005"/>
                <a:gd name="T13" fmla="*/ 244246 h 899160"/>
                <a:gd name="T14" fmla="*/ 130746 w 929005"/>
                <a:gd name="T15" fmla="*/ 153365 h 899160"/>
                <a:gd name="T16" fmla="*/ 182283 w 929005"/>
                <a:gd name="T17" fmla="*/ 82169 h 899160"/>
                <a:gd name="T18" fmla="*/ 190855 w 929005"/>
                <a:gd name="T19" fmla="*/ 74790 h 899160"/>
                <a:gd name="T20" fmla="*/ 113055 w 929005"/>
                <a:gd name="T21" fmla="*/ 146304 h 899160"/>
                <a:gd name="T22" fmla="*/ 58953 w 929005"/>
                <a:gd name="T23" fmla="*/ 223278 h 899160"/>
                <a:gd name="T24" fmla="*/ 22377 w 929005"/>
                <a:gd name="T25" fmla="*/ 306920 h 899160"/>
                <a:gd name="T26" fmla="*/ 3162 w 929005"/>
                <a:gd name="T27" fmla="*/ 394614 h 899160"/>
                <a:gd name="T28" fmla="*/ 1092 w 929005"/>
                <a:gd name="T29" fmla="*/ 483704 h 899160"/>
                <a:gd name="T30" fmla="*/ 15989 w 929005"/>
                <a:gd name="T31" fmla="*/ 571576 h 899160"/>
                <a:gd name="T32" fmla="*/ 46304 w 929005"/>
                <a:gd name="T33" fmla="*/ 652475 h 899160"/>
                <a:gd name="T34" fmla="*/ 88988 w 929005"/>
                <a:gd name="T35" fmla="*/ 723125 h 899160"/>
                <a:gd name="T36" fmla="*/ 94856 w 929005"/>
                <a:gd name="T37" fmla="*/ 730961 h 899160"/>
                <a:gd name="T38" fmla="*/ 164693 w 929005"/>
                <a:gd name="T39" fmla="*/ 804710 h 899160"/>
                <a:gd name="T40" fmla="*/ 237502 w 929005"/>
                <a:gd name="T41" fmla="*/ 855560 h 899160"/>
                <a:gd name="T42" fmla="*/ 333006 w 929005"/>
                <a:gd name="T43" fmla="*/ 894626 h 899160"/>
                <a:gd name="T44" fmla="*/ 400570 w 929005"/>
                <a:gd name="T45" fmla="*/ 891247 h 899160"/>
                <a:gd name="T46" fmla="*/ 423837 w 929005"/>
                <a:gd name="T47" fmla="*/ 846721 h 899160"/>
                <a:gd name="T48" fmla="*/ 927658 w 929005"/>
                <a:gd name="T49" fmla="*/ 417423 h 899160"/>
                <a:gd name="T50" fmla="*/ 912812 w 929005"/>
                <a:gd name="T51" fmla="*/ 329044 h 899160"/>
                <a:gd name="T52" fmla="*/ 882370 w 929005"/>
                <a:gd name="T53" fmla="*/ 247662 h 899160"/>
                <a:gd name="T54" fmla="*/ 835723 w 929005"/>
                <a:gd name="T55" fmla="*/ 171335 h 899160"/>
                <a:gd name="T56" fmla="*/ 833310 w 929005"/>
                <a:gd name="T57" fmla="*/ 168135 h 899160"/>
                <a:gd name="T58" fmla="*/ 768210 w 929005"/>
                <a:gd name="T59" fmla="*/ 98818 h 899160"/>
                <a:gd name="T60" fmla="*/ 688428 w 929005"/>
                <a:gd name="T61" fmla="*/ 43154 h 899160"/>
                <a:gd name="T62" fmla="*/ 605878 w 929005"/>
                <a:gd name="T63" fmla="*/ 7823 h 899160"/>
                <a:gd name="T64" fmla="*/ 527608 w 929005"/>
                <a:gd name="T65" fmla="*/ 7848 h 899160"/>
                <a:gd name="T66" fmla="*/ 504355 w 929005"/>
                <a:gd name="T67" fmla="*/ 52374 h 899160"/>
                <a:gd name="T68" fmla="*/ 533438 w 929005"/>
                <a:gd name="T69" fmla="*/ 160439 h 899160"/>
                <a:gd name="T70" fmla="*/ 582739 w 929005"/>
                <a:gd name="T71" fmla="*/ 236093 h 899160"/>
                <a:gd name="T72" fmla="*/ 584936 w 929005"/>
                <a:gd name="T73" fmla="*/ 238988 h 899160"/>
                <a:gd name="T74" fmla="*/ 744207 w 929005"/>
                <a:gd name="T75" fmla="*/ 430326 h 899160"/>
                <a:gd name="T76" fmla="*/ 790790 w 929005"/>
                <a:gd name="T77" fmla="*/ 511238 h 899160"/>
                <a:gd name="T78" fmla="*/ 814222 w 929005"/>
                <a:gd name="T79" fmla="*/ 606259 h 899160"/>
                <a:gd name="T80" fmla="*/ 810602 w 929005"/>
                <a:gd name="T81" fmla="*/ 701916 h 899160"/>
                <a:gd name="T82" fmla="*/ 776020 w 929005"/>
                <a:gd name="T83" fmla="*/ 784644 h 899160"/>
                <a:gd name="T84" fmla="*/ 736955 w 929005"/>
                <a:gd name="T85" fmla="*/ 823874 h 899160"/>
                <a:gd name="T86" fmla="*/ 792467 w 929005"/>
                <a:gd name="T87" fmla="*/ 778243 h 899160"/>
                <a:gd name="T88" fmla="*/ 857377 w 929005"/>
                <a:gd name="T89" fmla="*/ 696722 h 899160"/>
                <a:gd name="T90" fmla="*/ 907402 w 929005"/>
                <a:gd name="T91" fmla="*/ 589445 h 899160"/>
                <a:gd name="T92" fmla="*/ 917397 w 929005"/>
                <a:gd name="T93" fmla="*/ 552145 h 899160"/>
                <a:gd name="T94" fmla="*/ 918781 w 929005"/>
                <a:gd name="T95" fmla="*/ 545922 h 899160"/>
                <a:gd name="T96" fmla="*/ 925842 w 929005"/>
                <a:gd name="T97" fmla="*/ 501802 h 899160"/>
                <a:gd name="T98" fmla="*/ 928674 w 929005"/>
                <a:gd name="T99" fmla="*/ 458558 h 899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29005" h="899160">
                  <a:moveTo>
                    <a:pt x="423837" y="846721"/>
                  </a:moveTo>
                  <a:lnTo>
                    <a:pt x="411518" y="777455"/>
                  </a:lnTo>
                  <a:lnTo>
                    <a:pt x="394741" y="738657"/>
                  </a:lnTo>
                  <a:lnTo>
                    <a:pt x="372351" y="699820"/>
                  </a:lnTo>
                  <a:lnTo>
                    <a:pt x="345440" y="663003"/>
                  </a:lnTo>
                  <a:lnTo>
                    <a:pt x="344284" y="661593"/>
                  </a:lnTo>
                  <a:lnTo>
                    <a:pt x="343230" y="660107"/>
                  </a:lnTo>
                  <a:lnTo>
                    <a:pt x="342061" y="658672"/>
                  </a:lnTo>
                  <a:lnTo>
                    <a:pt x="183959" y="468769"/>
                  </a:lnTo>
                  <a:lnTo>
                    <a:pt x="158026" y="430923"/>
                  </a:lnTo>
                  <a:lnTo>
                    <a:pt x="137388" y="387870"/>
                  </a:lnTo>
                  <a:lnTo>
                    <a:pt x="122542" y="341274"/>
                  </a:lnTo>
                  <a:lnTo>
                    <a:pt x="113957" y="292836"/>
                  </a:lnTo>
                  <a:lnTo>
                    <a:pt x="112141" y="244246"/>
                  </a:lnTo>
                  <a:lnTo>
                    <a:pt x="117576" y="197192"/>
                  </a:lnTo>
                  <a:lnTo>
                    <a:pt x="130746" y="153365"/>
                  </a:lnTo>
                  <a:lnTo>
                    <a:pt x="152158" y="114465"/>
                  </a:lnTo>
                  <a:lnTo>
                    <a:pt x="182283" y="82169"/>
                  </a:lnTo>
                  <a:lnTo>
                    <a:pt x="191211" y="75222"/>
                  </a:lnTo>
                  <a:lnTo>
                    <a:pt x="190855" y="74790"/>
                  </a:lnTo>
                  <a:lnTo>
                    <a:pt x="149186" y="108915"/>
                  </a:lnTo>
                  <a:lnTo>
                    <a:pt x="113055" y="146304"/>
                  </a:lnTo>
                  <a:lnTo>
                    <a:pt x="83794" y="183794"/>
                  </a:lnTo>
                  <a:lnTo>
                    <a:pt x="58953" y="223278"/>
                  </a:lnTo>
                  <a:lnTo>
                    <a:pt x="38481" y="264426"/>
                  </a:lnTo>
                  <a:lnTo>
                    <a:pt x="22377" y="306920"/>
                  </a:lnTo>
                  <a:lnTo>
                    <a:pt x="10617" y="350431"/>
                  </a:lnTo>
                  <a:lnTo>
                    <a:pt x="3162" y="394614"/>
                  </a:lnTo>
                  <a:lnTo>
                    <a:pt x="0" y="439153"/>
                  </a:lnTo>
                  <a:lnTo>
                    <a:pt x="1092" y="483704"/>
                  </a:lnTo>
                  <a:lnTo>
                    <a:pt x="6426" y="527964"/>
                  </a:lnTo>
                  <a:lnTo>
                    <a:pt x="15989" y="571576"/>
                  </a:lnTo>
                  <a:lnTo>
                    <a:pt x="29730" y="614222"/>
                  </a:lnTo>
                  <a:lnTo>
                    <a:pt x="46304" y="652475"/>
                  </a:lnTo>
                  <a:lnTo>
                    <a:pt x="65963" y="688568"/>
                  </a:lnTo>
                  <a:lnTo>
                    <a:pt x="88988" y="723125"/>
                  </a:lnTo>
                  <a:lnTo>
                    <a:pt x="94030" y="729830"/>
                  </a:lnTo>
                  <a:lnTo>
                    <a:pt x="94856" y="730961"/>
                  </a:lnTo>
                  <a:lnTo>
                    <a:pt x="134696" y="776732"/>
                  </a:lnTo>
                  <a:lnTo>
                    <a:pt x="164693" y="804710"/>
                  </a:lnTo>
                  <a:lnTo>
                    <a:pt x="198018" y="830719"/>
                  </a:lnTo>
                  <a:lnTo>
                    <a:pt x="237502" y="855560"/>
                  </a:lnTo>
                  <a:lnTo>
                    <a:pt x="278663" y="876033"/>
                  </a:lnTo>
                  <a:lnTo>
                    <a:pt x="333006" y="894626"/>
                  </a:lnTo>
                  <a:lnTo>
                    <a:pt x="372872" y="899109"/>
                  </a:lnTo>
                  <a:lnTo>
                    <a:pt x="400570" y="891247"/>
                  </a:lnTo>
                  <a:lnTo>
                    <a:pt x="417195" y="873099"/>
                  </a:lnTo>
                  <a:lnTo>
                    <a:pt x="423837" y="846721"/>
                  </a:lnTo>
                  <a:close/>
                </a:path>
                <a:path w="929005" h="899160">
                  <a:moveTo>
                    <a:pt x="928674" y="458558"/>
                  </a:moveTo>
                  <a:lnTo>
                    <a:pt x="927658" y="417423"/>
                  </a:lnTo>
                  <a:lnTo>
                    <a:pt x="922439" y="373468"/>
                  </a:lnTo>
                  <a:lnTo>
                    <a:pt x="912812" y="329044"/>
                  </a:lnTo>
                  <a:lnTo>
                    <a:pt x="899566" y="287820"/>
                  </a:lnTo>
                  <a:lnTo>
                    <a:pt x="882370" y="247662"/>
                  </a:lnTo>
                  <a:lnTo>
                    <a:pt x="861225" y="208915"/>
                  </a:lnTo>
                  <a:lnTo>
                    <a:pt x="835723" y="171335"/>
                  </a:lnTo>
                  <a:lnTo>
                    <a:pt x="834136" y="169265"/>
                  </a:lnTo>
                  <a:lnTo>
                    <a:pt x="833310" y="168135"/>
                  </a:lnTo>
                  <a:lnTo>
                    <a:pt x="797534" y="126873"/>
                  </a:lnTo>
                  <a:lnTo>
                    <a:pt x="768210" y="98818"/>
                  </a:lnTo>
                  <a:lnTo>
                    <a:pt x="729386" y="68630"/>
                  </a:lnTo>
                  <a:lnTo>
                    <a:pt x="688428" y="43154"/>
                  </a:lnTo>
                  <a:lnTo>
                    <a:pt x="645718" y="22377"/>
                  </a:lnTo>
                  <a:lnTo>
                    <a:pt x="605878" y="7823"/>
                  </a:lnTo>
                  <a:lnTo>
                    <a:pt x="555294" y="0"/>
                  </a:lnTo>
                  <a:lnTo>
                    <a:pt x="527608" y="7848"/>
                  </a:lnTo>
                  <a:lnTo>
                    <a:pt x="510984" y="25996"/>
                  </a:lnTo>
                  <a:lnTo>
                    <a:pt x="504355" y="52374"/>
                  </a:lnTo>
                  <a:lnTo>
                    <a:pt x="506603" y="84950"/>
                  </a:lnTo>
                  <a:lnTo>
                    <a:pt x="533438" y="160439"/>
                  </a:lnTo>
                  <a:lnTo>
                    <a:pt x="555828" y="199275"/>
                  </a:lnTo>
                  <a:lnTo>
                    <a:pt x="582739" y="236093"/>
                  </a:lnTo>
                  <a:lnTo>
                    <a:pt x="583882" y="237502"/>
                  </a:lnTo>
                  <a:lnTo>
                    <a:pt x="584936" y="238988"/>
                  </a:lnTo>
                  <a:lnTo>
                    <a:pt x="586105" y="240423"/>
                  </a:lnTo>
                  <a:lnTo>
                    <a:pt x="744207" y="430326"/>
                  </a:lnTo>
                  <a:lnTo>
                    <a:pt x="770153" y="468172"/>
                  </a:lnTo>
                  <a:lnTo>
                    <a:pt x="790790" y="511238"/>
                  </a:lnTo>
                  <a:lnTo>
                    <a:pt x="805649" y="557822"/>
                  </a:lnTo>
                  <a:lnTo>
                    <a:pt x="814222" y="606259"/>
                  </a:lnTo>
                  <a:lnTo>
                    <a:pt x="816038" y="654862"/>
                  </a:lnTo>
                  <a:lnTo>
                    <a:pt x="810602" y="701916"/>
                  </a:lnTo>
                  <a:lnTo>
                    <a:pt x="797433" y="745731"/>
                  </a:lnTo>
                  <a:lnTo>
                    <a:pt x="776020" y="784644"/>
                  </a:lnTo>
                  <a:lnTo>
                    <a:pt x="745883" y="816927"/>
                  </a:lnTo>
                  <a:lnTo>
                    <a:pt x="736955" y="823874"/>
                  </a:lnTo>
                  <a:lnTo>
                    <a:pt x="737958" y="825093"/>
                  </a:lnTo>
                  <a:lnTo>
                    <a:pt x="792467" y="778243"/>
                  </a:lnTo>
                  <a:lnTo>
                    <a:pt x="826262" y="740435"/>
                  </a:lnTo>
                  <a:lnTo>
                    <a:pt x="857377" y="696722"/>
                  </a:lnTo>
                  <a:lnTo>
                    <a:pt x="887806" y="640765"/>
                  </a:lnTo>
                  <a:lnTo>
                    <a:pt x="907402" y="589445"/>
                  </a:lnTo>
                  <a:lnTo>
                    <a:pt x="917397" y="552500"/>
                  </a:lnTo>
                  <a:lnTo>
                    <a:pt x="917397" y="552145"/>
                  </a:lnTo>
                  <a:lnTo>
                    <a:pt x="918222" y="548551"/>
                  </a:lnTo>
                  <a:lnTo>
                    <a:pt x="918781" y="545922"/>
                  </a:lnTo>
                  <a:lnTo>
                    <a:pt x="924826" y="510019"/>
                  </a:lnTo>
                  <a:lnTo>
                    <a:pt x="925842" y="501802"/>
                  </a:lnTo>
                  <a:lnTo>
                    <a:pt x="928585" y="463143"/>
                  </a:lnTo>
                  <a:lnTo>
                    <a:pt x="928674" y="458558"/>
                  </a:lnTo>
                  <a:close/>
                </a:path>
              </a:pathLst>
            </a:custGeom>
            <a:solidFill>
              <a:srgbClr val="6BBE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nl-BE"/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E5C5275A-690D-DEC9-B230-4750D90EA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647" y="3353358"/>
              <a:ext cx="929005" cy="900430"/>
            </a:xfrm>
            <a:custGeom>
              <a:avLst/>
              <a:gdLst>
                <a:gd name="T0" fmla="*/ 419900 w 929005"/>
                <a:gd name="T1" fmla="*/ 26289 h 900429"/>
                <a:gd name="T2" fmla="*/ 375742 w 929005"/>
                <a:gd name="T3" fmla="*/ 0 h 900429"/>
                <a:gd name="T4" fmla="*/ 274421 w 929005"/>
                <a:gd name="T5" fmla="*/ 26733 h 900429"/>
                <a:gd name="T6" fmla="*/ 188417 w 929005"/>
                <a:gd name="T7" fmla="*/ 76974 h 900429"/>
                <a:gd name="T8" fmla="*/ 113017 w 929005"/>
                <a:gd name="T9" fmla="*/ 146926 h 900429"/>
                <a:gd name="T10" fmla="*/ 58953 w 929005"/>
                <a:gd name="T11" fmla="*/ 223862 h 900429"/>
                <a:gd name="T12" fmla="*/ 22377 w 929005"/>
                <a:gd name="T13" fmla="*/ 307505 h 900429"/>
                <a:gd name="T14" fmla="*/ 3162 w 929005"/>
                <a:gd name="T15" fmla="*/ 395198 h 900429"/>
                <a:gd name="T16" fmla="*/ 1092 w 929005"/>
                <a:gd name="T17" fmla="*/ 484289 h 900429"/>
                <a:gd name="T18" fmla="*/ 15989 w 929005"/>
                <a:gd name="T19" fmla="*/ 572160 h 900429"/>
                <a:gd name="T20" fmla="*/ 51701 w 929005"/>
                <a:gd name="T21" fmla="*/ 663448 h 900429"/>
                <a:gd name="T22" fmla="*/ 126174 w 929005"/>
                <a:gd name="T23" fmla="*/ 769162 h 900429"/>
                <a:gd name="T24" fmla="*/ 188099 w 929005"/>
                <a:gd name="T25" fmla="*/ 823569 h 900429"/>
                <a:gd name="T26" fmla="*/ 185826 w 929005"/>
                <a:gd name="T27" fmla="*/ 820445 h 900429"/>
                <a:gd name="T28" fmla="*/ 150037 w 929005"/>
                <a:gd name="T29" fmla="*/ 783234 h 900429"/>
                <a:gd name="T30" fmla="*/ 115976 w 929005"/>
                <a:gd name="T31" fmla="*/ 700278 h 900429"/>
                <a:gd name="T32" fmla="*/ 112966 w 929005"/>
                <a:gd name="T33" fmla="*/ 604608 h 900429"/>
                <a:gd name="T34" fmla="*/ 137007 w 929005"/>
                <a:gd name="T35" fmla="*/ 509727 h 900429"/>
                <a:gd name="T36" fmla="*/ 184086 w 929005"/>
                <a:gd name="T37" fmla="*/ 429120 h 900429"/>
                <a:gd name="T38" fmla="*/ 345630 w 929005"/>
                <a:gd name="T39" fmla="*/ 237324 h 900429"/>
                <a:gd name="T40" fmla="*/ 396582 w 929005"/>
                <a:gd name="T41" fmla="*/ 160591 h 900429"/>
                <a:gd name="T42" fmla="*/ 423900 w 929005"/>
                <a:gd name="T43" fmla="*/ 85267 h 900429"/>
                <a:gd name="T44" fmla="*/ 928649 w 929005"/>
                <a:gd name="T45" fmla="*/ 458292 h 900429"/>
                <a:gd name="T46" fmla="*/ 922299 w 929005"/>
                <a:gd name="T47" fmla="*/ 372897 h 900429"/>
                <a:gd name="T48" fmla="*/ 895794 w 929005"/>
                <a:gd name="T49" fmla="*/ 279234 h 900429"/>
                <a:gd name="T50" fmla="*/ 858253 w 929005"/>
                <a:gd name="T51" fmla="*/ 204431 h 900429"/>
                <a:gd name="T52" fmla="*/ 802563 w 929005"/>
                <a:gd name="T53" fmla="*/ 132270 h 900429"/>
                <a:gd name="T54" fmla="*/ 739660 w 929005"/>
                <a:gd name="T55" fmla="*/ 77190 h 900429"/>
                <a:gd name="T56" fmla="*/ 742340 w 929005"/>
                <a:gd name="T57" fmla="*/ 79819 h 900429"/>
                <a:gd name="T58" fmla="*/ 778141 w 929005"/>
                <a:gd name="T59" fmla="*/ 117030 h 900429"/>
                <a:gd name="T60" fmla="*/ 812203 w 929005"/>
                <a:gd name="T61" fmla="*/ 199986 h 900429"/>
                <a:gd name="T62" fmla="*/ 815213 w 929005"/>
                <a:gd name="T63" fmla="*/ 295656 h 900429"/>
                <a:gd name="T64" fmla="*/ 791171 w 929005"/>
                <a:gd name="T65" fmla="*/ 390550 h 900429"/>
                <a:gd name="T66" fmla="*/ 744080 w 929005"/>
                <a:gd name="T67" fmla="*/ 471144 h 900429"/>
                <a:gd name="T68" fmla="*/ 582536 w 929005"/>
                <a:gd name="T69" fmla="*/ 662940 h 900429"/>
                <a:gd name="T70" fmla="*/ 531583 w 929005"/>
                <a:gd name="T71" fmla="*/ 739673 h 900429"/>
                <a:gd name="T72" fmla="*/ 501815 w 929005"/>
                <a:gd name="T73" fmla="*/ 847559 h 900429"/>
                <a:gd name="T74" fmla="*/ 524776 w 929005"/>
                <a:gd name="T75" fmla="*/ 892225 h 900429"/>
                <a:gd name="T76" fmla="*/ 592315 w 929005"/>
                <a:gd name="T77" fmla="*/ 896035 h 900429"/>
                <a:gd name="T78" fmla="*/ 669810 w 929005"/>
                <a:gd name="T79" fmla="*/ 867435 h 900429"/>
                <a:gd name="T80" fmla="*/ 751992 w 929005"/>
                <a:gd name="T81" fmla="*/ 815213 h 900429"/>
                <a:gd name="T82" fmla="*/ 821524 w 929005"/>
                <a:gd name="T83" fmla="*/ 746340 h 900429"/>
                <a:gd name="T84" fmla="*/ 835418 w 929005"/>
                <a:gd name="T85" fmla="*/ 728776 h 900429"/>
                <a:gd name="T86" fmla="*/ 866444 w 929005"/>
                <a:gd name="T87" fmla="*/ 681977 h 900429"/>
                <a:gd name="T88" fmla="*/ 869975 w 929005"/>
                <a:gd name="T89" fmla="*/ 675843 h 900429"/>
                <a:gd name="T90" fmla="*/ 874826 w 929005"/>
                <a:gd name="T91" fmla="*/ 666940 h 900429"/>
                <a:gd name="T92" fmla="*/ 877366 w 929005"/>
                <a:gd name="T93" fmla="*/ 662063 h 900429"/>
                <a:gd name="T94" fmla="*/ 880922 w 929005"/>
                <a:gd name="T95" fmla="*/ 654964 h 900429"/>
                <a:gd name="T96" fmla="*/ 882091 w 929005"/>
                <a:gd name="T97" fmla="*/ 652576 h 900429"/>
                <a:gd name="T98" fmla="*/ 885939 w 929005"/>
                <a:gd name="T99" fmla="*/ 644550 h 900429"/>
                <a:gd name="T100" fmla="*/ 904671 w 929005"/>
                <a:gd name="T101" fmla="*/ 597420 h 900429"/>
                <a:gd name="T102" fmla="*/ 915644 w 929005"/>
                <a:gd name="T103" fmla="*/ 559587 h 900429"/>
                <a:gd name="T104" fmla="*/ 928471 w 929005"/>
                <a:gd name="T105" fmla="*/ 465416 h 900429"/>
                <a:gd name="T106" fmla="*/ 928649 w 929005"/>
                <a:gd name="T107" fmla="*/ 458292 h 900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005" h="900429">
                  <a:moveTo>
                    <a:pt x="426364" y="52705"/>
                  </a:moveTo>
                  <a:lnTo>
                    <a:pt x="419900" y="26289"/>
                  </a:lnTo>
                  <a:lnTo>
                    <a:pt x="403390" y="8039"/>
                  </a:lnTo>
                  <a:lnTo>
                    <a:pt x="375742" y="0"/>
                  </a:lnTo>
                  <a:lnTo>
                    <a:pt x="340017" y="3784"/>
                  </a:lnTo>
                  <a:lnTo>
                    <a:pt x="274421" y="26733"/>
                  </a:lnTo>
                  <a:lnTo>
                    <a:pt x="230301" y="49377"/>
                  </a:lnTo>
                  <a:lnTo>
                    <a:pt x="188417" y="76974"/>
                  </a:lnTo>
                  <a:lnTo>
                    <a:pt x="149186" y="109499"/>
                  </a:lnTo>
                  <a:lnTo>
                    <a:pt x="113017" y="146926"/>
                  </a:lnTo>
                  <a:lnTo>
                    <a:pt x="83794" y="184378"/>
                  </a:lnTo>
                  <a:lnTo>
                    <a:pt x="58953" y="223862"/>
                  </a:lnTo>
                  <a:lnTo>
                    <a:pt x="38481" y="265010"/>
                  </a:lnTo>
                  <a:lnTo>
                    <a:pt x="22377" y="307505"/>
                  </a:lnTo>
                  <a:lnTo>
                    <a:pt x="10617" y="351015"/>
                  </a:lnTo>
                  <a:lnTo>
                    <a:pt x="3162" y="395198"/>
                  </a:lnTo>
                  <a:lnTo>
                    <a:pt x="0" y="439737"/>
                  </a:lnTo>
                  <a:lnTo>
                    <a:pt x="1092" y="484289"/>
                  </a:lnTo>
                  <a:lnTo>
                    <a:pt x="6426" y="528548"/>
                  </a:lnTo>
                  <a:lnTo>
                    <a:pt x="15989" y="572160"/>
                  </a:lnTo>
                  <a:lnTo>
                    <a:pt x="32067" y="620179"/>
                  </a:lnTo>
                  <a:lnTo>
                    <a:pt x="51701" y="663448"/>
                  </a:lnTo>
                  <a:lnTo>
                    <a:pt x="74777" y="703199"/>
                  </a:lnTo>
                  <a:lnTo>
                    <a:pt x="126174" y="769162"/>
                  </a:lnTo>
                  <a:lnTo>
                    <a:pt x="154762" y="796518"/>
                  </a:lnTo>
                  <a:lnTo>
                    <a:pt x="188099" y="823569"/>
                  </a:lnTo>
                  <a:lnTo>
                    <a:pt x="188823" y="822706"/>
                  </a:lnTo>
                  <a:lnTo>
                    <a:pt x="185826" y="820445"/>
                  </a:lnTo>
                  <a:lnTo>
                    <a:pt x="182854" y="818121"/>
                  </a:lnTo>
                  <a:lnTo>
                    <a:pt x="150037" y="783234"/>
                  </a:lnTo>
                  <a:lnTo>
                    <a:pt x="128866" y="744194"/>
                  </a:lnTo>
                  <a:lnTo>
                    <a:pt x="115976" y="700278"/>
                  </a:lnTo>
                  <a:lnTo>
                    <a:pt x="110832" y="653186"/>
                  </a:lnTo>
                  <a:lnTo>
                    <a:pt x="112966" y="604608"/>
                  </a:lnTo>
                  <a:lnTo>
                    <a:pt x="121856" y="556221"/>
                  </a:lnTo>
                  <a:lnTo>
                    <a:pt x="137007" y="509727"/>
                  </a:lnTo>
                  <a:lnTo>
                    <a:pt x="157911" y="466801"/>
                  </a:lnTo>
                  <a:lnTo>
                    <a:pt x="184086" y="429120"/>
                  </a:lnTo>
                  <a:lnTo>
                    <a:pt x="344576" y="238823"/>
                  </a:lnTo>
                  <a:lnTo>
                    <a:pt x="345630" y="237324"/>
                  </a:lnTo>
                  <a:lnTo>
                    <a:pt x="373951" y="199275"/>
                  </a:lnTo>
                  <a:lnTo>
                    <a:pt x="396582" y="160591"/>
                  </a:lnTo>
                  <a:lnTo>
                    <a:pt x="413600" y="121907"/>
                  </a:lnTo>
                  <a:lnTo>
                    <a:pt x="423900" y="85267"/>
                  </a:lnTo>
                  <a:lnTo>
                    <a:pt x="426364" y="52705"/>
                  </a:lnTo>
                  <a:close/>
                </a:path>
                <a:path w="929005" h="900429">
                  <a:moveTo>
                    <a:pt x="928649" y="458292"/>
                  </a:moveTo>
                  <a:lnTo>
                    <a:pt x="927658" y="417931"/>
                  </a:lnTo>
                  <a:lnTo>
                    <a:pt x="922299" y="372897"/>
                  </a:lnTo>
                  <a:lnTo>
                    <a:pt x="912749" y="329272"/>
                  </a:lnTo>
                  <a:lnTo>
                    <a:pt x="895794" y="279234"/>
                  </a:lnTo>
                  <a:lnTo>
                    <a:pt x="877341" y="238544"/>
                  </a:lnTo>
                  <a:lnTo>
                    <a:pt x="858253" y="204431"/>
                  </a:lnTo>
                  <a:lnTo>
                    <a:pt x="832840" y="167767"/>
                  </a:lnTo>
                  <a:lnTo>
                    <a:pt x="802563" y="132270"/>
                  </a:lnTo>
                  <a:lnTo>
                    <a:pt x="768223" y="99390"/>
                  </a:lnTo>
                  <a:lnTo>
                    <a:pt x="739660" y="77190"/>
                  </a:lnTo>
                  <a:lnTo>
                    <a:pt x="739343" y="77558"/>
                  </a:lnTo>
                  <a:lnTo>
                    <a:pt x="742340" y="79819"/>
                  </a:lnTo>
                  <a:lnTo>
                    <a:pt x="745312" y="82143"/>
                  </a:lnTo>
                  <a:lnTo>
                    <a:pt x="778141" y="117030"/>
                  </a:lnTo>
                  <a:lnTo>
                    <a:pt x="799299" y="156083"/>
                  </a:lnTo>
                  <a:lnTo>
                    <a:pt x="812203" y="199986"/>
                  </a:lnTo>
                  <a:lnTo>
                    <a:pt x="817333" y="247078"/>
                  </a:lnTo>
                  <a:lnTo>
                    <a:pt x="815213" y="295656"/>
                  </a:lnTo>
                  <a:lnTo>
                    <a:pt x="806323" y="344043"/>
                  </a:lnTo>
                  <a:lnTo>
                    <a:pt x="791171" y="390550"/>
                  </a:lnTo>
                  <a:lnTo>
                    <a:pt x="770255" y="433476"/>
                  </a:lnTo>
                  <a:lnTo>
                    <a:pt x="744080" y="471144"/>
                  </a:lnTo>
                  <a:lnTo>
                    <a:pt x="583590" y="661441"/>
                  </a:lnTo>
                  <a:lnTo>
                    <a:pt x="582536" y="662940"/>
                  </a:lnTo>
                  <a:lnTo>
                    <a:pt x="554228" y="700989"/>
                  </a:lnTo>
                  <a:lnTo>
                    <a:pt x="531583" y="739673"/>
                  </a:lnTo>
                  <a:lnTo>
                    <a:pt x="514578" y="778357"/>
                  </a:lnTo>
                  <a:lnTo>
                    <a:pt x="501815" y="847559"/>
                  </a:lnTo>
                  <a:lnTo>
                    <a:pt x="508279" y="873975"/>
                  </a:lnTo>
                  <a:lnTo>
                    <a:pt x="524776" y="892225"/>
                  </a:lnTo>
                  <a:lnTo>
                    <a:pt x="552424" y="900264"/>
                  </a:lnTo>
                  <a:lnTo>
                    <a:pt x="592315" y="896035"/>
                  </a:lnTo>
                  <a:lnTo>
                    <a:pt x="631088" y="884224"/>
                  </a:lnTo>
                  <a:lnTo>
                    <a:pt x="669810" y="867435"/>
                  </a:lnTo>
                  <a:lnTo>
                    <a:pt x="709536" y="845375"/>
                  </a:lnTo>
                  <a:lnTo>
                    <a:pt x="751992" y="815213"/>
                  </a:lnTo>
                  <a:lnTo>
                    <a:pt x="789114" y="781900"/>
                  </a:lnTo>
                  <a:lnTo>
                    <a:pt x="821524" y="746340"/>
                  </a:lnTo>
                  <a:lnTo>
                    <a:pt x="833196" y="731647"/>
                  </a:lnTo>
                  <a:lnTo>
                    <a:pt x="835418" y="728776"/>
                  </a:lnTo>
                  <a:lnTo>
                    <a:pt x="858774" y="694766"/>
                  </a:lnTo>
                  <a:lnTo>
                    <a:pt x="866444" y="681977"/>
                  </a:lnTo>
                  <a:lnTo>
                    <a:pt x="867054" y="680974"/>
                  </a:lnTo>
                  <a:lnTo>
                    <a:pt x="869975" y="675843"/>
                  </a:lnTo>
                  <a:lnTo>
                    <a:pt x="872248" y="671741"/>
                  </a:lnTo>
                  <a:lnTo>
                    <a:pt x="874826" y="666940"/>
                  </a:lnTo>
                  <a:lnTo>
                    <a:pt x="875157" y="666267"/>
                  </a:lnTo>
                  <a:lnTo>
                    <a:pt x="877366" y="662063"/>
                  </a:lnTo>
                  <a:lnTo>
                    <a:pt x="879170" y="658520"/>
                  </a:lnTo>
                  <a:lnTo>
                    <a:pt x="880922" y="654964"/>
                  </a:lnTo>
                  <a:lnTo>
                    <a:pt x="881532" y="653770"/>
                  </a:lnTo>
                  <a:lnTo>
                    <a:pt x="882091" y="652576"/>
                  </a:lnTo>
                  <a:lnTo>
                    <a:pt x="884326" y="647979"/>
                  </a:lnTo>
                  <a:lnTo>
                    <a:pt x="885939" y="644550"/>
                  </a:lnTo>
                  <a:lnTo>
                    <a:pt x="902030" y="605142"/>
                  </a:lnTo>
                  <a:lnTo>
                    <a:pt x="904671" y="597420"/>
                  </a:lnTo>
                  <a:lnTo>
                    <a:pt x="905065" y="596328"/>
                  </a:lnTo>
                  <a:lnTo>
                    <a:pt x="915644" y="559587"/>
                  </a:lnTo>
                  <a:lnTo>
                    <a:pt x="924471" y="512737"/>
                  </a:lnTo>
                  <a:lnTo>
                    <a:pt x="928471" y="465416"/>
                  </a:lnTo>
                  <a:lnTo>
                    <a:pt x="928585" y="462102"/>
                  </a:lnTo>
                  <a:lnTo>
                    <a:pt x="928649" y="458292"/>
                  </a:lnTo>
                  <a:close/>
                </a:path>
              </a:pathLst>
            </a:custGeom>
            <a:solidFill>
              <a:srgbClr val="317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nl-BE"/>
            </a:p>
          </p:txBody>
        </p:sp>
        <p:pic>
          <p:nvPicPr>
            <p:cNvPr id="10" name="object 8">
              <a:extLst>
                <a:ext uri="{FF2B5EF4-FFF2-40B4-BE49-F238E27FC236}">
                  <a16:creationId xmlns:a16="http://schemas.microsoft.com/office/drawing/2014/main" id="{26DD5653-A5A1-8B73-D69C-7B841CE7F4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3301" y="3528675"/>
              <a:ext cx="2732709" cy="577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object 11">
            <a:extLst>
              <a:ext uri="{FF2B5EF4-FFF2-40B4-BE49-F238E27FC236}">
                <a16:creationId xmlns:a16="http://schemas.microsoft.com/office/drawing/2014/main" id="{2B9B4EBE-1C24-60AF-719C-D6189BC2C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7113" y="5999163"/>
            <a:ext cx="825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228" y="768350"/>
            <a:ext cx="8656092" cy="743340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250" y="1755311"/>
            <a:ext cx="8660070" cy="1223294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358439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2">
            <a:extLst>
              <a:ext uri="{FF2B5EF4-FFF2-40B4-BE49-F238E27FC236}">
                <a16:creationId xmlns:a16="http://schemas.microsoft.com/office/drawing/2014/main" id="{63269C01-483E-E023-E131-5EC3D616CF5C}"/>
              </a:ext>
            </a:extLst>
          </p:cNvPr>
          <p:cNvGrpSpPr>
            <a:grpSpLocks/>
          </p:cNvGrpSpPr>
          <p:nvPr/>
        </p:nvGrpSpPr>
        <p:grpSpPr bwMode="auto">
          <a:xfrm>
            <a:off x="234950" y="6311900"/>
            <a:ext cx="366713" cy="352425"/>
            <a:chOff x="235008" y="6311872"/>
            <a:chExt cx="367030" cy="353060"/>
          </a:xfrm>
        </p:grpSpPr>
        <p:pic>
          <p:nvPicPr>
            <p:cNvPr id="5" name="object 3">
              <a:extLst>
                <a:ext uri="{FF2B5EF4-FFF2-40B4-BE49-F238E27FC236}">
                  <a16:creationId xmlns:a16="http://schemas.microsoft.com/office/drawing/2014/main" id="{32D8F93A-5D36-C050-ADDC-85FD4B42E1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136" y="6432114"/>
              <a:ext cx="112745" cy="112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6379D4BC-4B22-E955-F627-FD558CA27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000" y="6312128"/>
              <a:ext cx="367030" cy="352425"/>
            </a:xfrm>
            <a:custGeom>
              <a:avLst/>
              <a:gdLst>
                <a:gd name="T0" fmla="*/ 167411 w 367030"/>
                <a:gd name="T1" fmla="*/ 327253 h 352425"/>
                <a:gd name="T2" fmla="*/ 157810 w 367030"/>
                <a:gd name="T3" fmla="*/ 294513 h 352425"/>
                <a:gd name="T4" fmla="*/ 136398 w 367030"/>
                <a:gd name="T5" fmla="*/ 260680 h 352425"/>
                <a:gd name="T6" fmla="*/ 135940 w 367030"/>
                <a:gd name="T7" fmla="*/ 260121 h 352425"/>
                <a:gd name="T8" fmla="*/ 135521 w 367030"/>
                <a:gd name="T9" fmla="*/ 259537 h 352425"/>
                <a:gd name="T10" fmla="*/ 135064 w 367030"/>
                <a:gd name="T11" fmla="*/ 258965 h 352425"/>
                <a:gd name="T12" fmla="*/ 72440 w 367030"/>
                <a:gd name="T13" fmla="*/ 183743 h 352425"/>
                <a:gd name="T14" fmla="*/ 52298 w 367030"/>
                <a:gd name="T15" fmla="*/ 147193 h 352425"/>
                <a:gd name="T16" fmla="*/ 43992 w 367030"/>
                <a:gd name="T17" fmla="*/ 104394 h 352425"/>
                <a:gd name="T18" fmla="*/ 49758 w 367030"/>
                <a:gd name="T19" fmla="*/ 62992 h 352425"/>
                <a:gd name="T20" fmla="*/ 71767 w 367030"/>
                <a:gd name="T21" fmla="*/ 30619 h 352425"/>
                <a:gd name="T22" fmla="*/ 72936 w 367030"/>
                <a:gd name="T23" fmla="*/ 29667 h 352425"/>
                <a:gd name="T24" fmla="*/ 74117 w 367030"/>
                <a:gd name="T25" fmla="*/ 28752 h 352425"/>
                <a:gd name="T26" fmla="*/ 75311 w 367030"/>
                <a:gd name="T27" fmla="*/ 27863 h 352425"/>
                <a:gd name="T28" fmla="*/ 75209 w 367030"/>
                <a:gd name="T29" fmla="*/ 27736 h 352425"/>
                <a:gd name="T30" fmla="*/ 44348 w 367030"/>
                <a:gd name="T31" fmla="*/ 56032 h 352425"/>
                <a:gd name="T32" fmla="*/ 17322 w 367030"/>
                <a:gd name="T33" fmla="*/ 97307 h 352425"/>
                <a:gd name="T34" fmla="*/ 2603 w 367030"/>
                <a:gd name="T35" fmla="*/ 142684 h 352425"/>
                <a:gd name="T36" fmla="*/ 0 w 367030"/>
                <a:gd name="T37" fmla="*/ 189661 h 352425"/>
                <a:gd name="T38" fmla="*/ 9347 w 367030"/>
                <a:gd name="T39" fmla="*/ 235775 h 352425"/>
                <a:gd name="T40" fmla="*/ 29959 w 367030"/>
                <a:gd name="T41" fmla="*/ 277533 h 352425"/>
                <a:gd name="T42" fmla="*/ 62420 w 367030"/>
                <a:gd name="T43" fmla="*/ 314680 h 352425"/>
                <a:gd name="T44" fmla="*/ 104444 w 367030"/>
                <a:gd name="T45" fmla="*/ 342531 h 352425"/>
                <a:gd name="T46" fmla="*/ 134112 w 367030"/>
                <a:gd name="T47" fmla="*/ 352171 h 352425"/>
                <a:gd name="T48" fmla="*/ 160274 w 367030"/>
                <a:gd name="T49" fmla="*/ 349631 h 352425"/>
                <a:gd name="T50" fmla="*/ 167411 w 367030"/>
                <a:gd name="T51" fmla="*/ 327253 h 352425"/>
                <a:gd name="T52" fmla="*/ 366991 w 367030"/>
                <a:gd name="T53" fmla="*/ 163195 h 352425"/>
                <a:gd name="T54" fmla="*/ 357695 w 367030"/>
                <a:gd name="T55" fmla="*/ 117119 h 352425"/>
                <a:gd name="T56" fmla="*/ 336804 w 367030"/>
                <a:gd name="T57" fmla="*/ 74688 h 352425"/>
                <a:gd name="T58" fmla="*/ 303847 w 367030"/>
                <a:gd name="T59" fmla="*/ 37198 h 352425"/>
                <a:gd name="T60" fmla="*/ 248678 w 367030"/>
                <a:gd name="T61" fmla="*/ 4457 h 352425"/>
                <a:gd name="T62" fmla="*/ 233591 w 367030"/>
                <a:gd name="T63" fmla="*/ 0 h 352425"/>
                <a:gd name="T64" fmla="*/ 206514 w 367030"/>
                <a:gd name="T65" fmla="*/ 2616 h 352425"/>
                <a:gd name="T66" fmla="*/ 199377 w 367030"/>
                <a:gd name="T67" fmla="*/ 25006 h 352425"/>
                <a:gd name="T68" fmla="*/ 208978 w 367030"/>
                <a:gd name="T69" fmla="*/ 57734 h 352425"/>
                <a:gd name="T70" fmla="*/ 230390 w 367030"/>
                <a:gd name="T71" fmla="*/ 91579 h 352425"/>
                <a:gd name="T72" fmla="*/ 230835 w 367030"/>
                <a:gd name="T73" fmla="*/ 92138 h 352425"/>
                <a:gd name="T74" fmla="*/ 231254 w 367030"/>
                <a:gd name="T75" fmla="*/ 92722 h 352425"/>
                <a:gd name="T76" fmla="*/ 231711 w 367030"/>
                <a:gd name="T77" fmla="*/ 93294 h 352425"/>
                <a:gd name="T78" fmla="*/ 294335 w 367030"/>
                <a:gd name="T79" fmla="*/ 168516 h 352425"/>
                <a:gd name="T80" fmla="*/ 314490 w 367030"/>
                <a:gd name="T81" fmla="*/ 205066 h 352425"/>
                <a:gd name="T82" fmla="*/ 322783 w 367030"/>
                <a:gd name="T83" fmla="*/ 247853 h 352425"/>
                <a:gd name="T84" fmla="*/ 317030 w 367030"/>
                <a:gd name="T85" fmla="*/ 289255 h 352425"/>
                <a:gd name="T86" fmla="*/ 295821 w 367030"/>
                <a:gd name="T87" fmla="*/ 320459 h 352425"/>
                <a:gd name="T88" fmla="*/ 321665 w 367030"/>
                <a:gd name="T89" fmla="*/ 297599 h 352425"/>
                <a:gd name="T90" fmla="*/ 349465 w 367030"/>
                <a:gd name="T91" fmla="*/ 255765 h 352425"/>
                <a:gd name="T92" fmla="*/ 364299 w 367030"/>
                <a:gd name="T93" fmla="*/ 210362 h 352425"/>
                <a:gd name="T94" fmla="*/ 364413 w 367030"/>
                <a:gd name="T95" fmla="*/ 209804 h 352425"/>
                <a:gd name="T96" fmla="*/ 366991 w 367030"/>
                <a:gd name="T97" fmla="*/ 163195 h 352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nl-BE"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14121392-47A6-7B58-3FFF-635CB981B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000" y="6311874"/>
              <a:ext cx="367030" cy="353060"/>
            </a:xfrm>
            <a:custGeom>
              <a:avLst/>
              <a:gdLst>
                <a:gd name="T0" fmla="*/ 168376 w 367030"/>
                <a:gd name="T1" fmla="*/ 25158 h 353059"/>
                <a:gd name="T2" fmla="*/ 161378 w 367030"/>
                <a:gd name="T3" fmla="*/ 2730 h 353059"/>
                <a:gd name="T4" fmla="*/ 134899 w 367030"/>
                <a:gd name="T5" fmla="*/ 0 h 353059"/>
                <a:gd name="T6" fmla="*/ 108267 w 367030"/>
                <a:gd name="T7" fmla="*/ 8674 h 353059"/>
                <a:gd name="T8" fmla="*/ 74193 w 367030"/>
                <a:gd name="T9" fmla="*/ 28587 h 353059"/>
                <a:gd name="T10" fmla="*/ 45364 w 367030"/>
                <a:gd name="T11" fmla="*/ 55333 h 353059"/>
                <a:gd name="T12" fmla="*/ 17322 w 367030"/>
                <a:gd name="T13" fmla="*/ 97561 h 353059"/>
                <a:gd name="T14" fmla="*/ 2603 w 367030"/>
                <a:gd name="T15" fmla="*/ 142938 h 353059"/>
                <a:gd name="T16" fmla="*/ 0 w 367030"/>
                <a:gd name="T17" fmla="*/ 189915 h 353059"/>
                <a:gd name="T18" fmla="*/ 9169 w 367030"/>
                <a:gd name="T19" fmla="*/ 235165 h 353059"/>
                <a:gd name="T20" fmla="*/ 30454 w 367030"/>
                <a:gd name="T21" fmla="*/ 278803 h 353059"/>
                <a:gd name="T22" fmla="*/ 62445 w 367030"/>
                <a:gd name="T23" fmla="*/ 314960 h 353059"/>
                <a:gd name="T24" fmla="*/ 70396 w 367030"/>
                <a:gd name="T25" fmla="*/ 320509 h 353059"/>
                <a:gd name="T26" fmla="*/ 49034 w 367030"/>
                <a:gd name="T27" fmla="*/ 288658 h 353059"/>
                <a:gd name="T28" fmla="*/ 43548 w 367030"/>
                <a:gd name="T29" fmla="*/ 247218 h 353059"/>
                <a:gd name="T30" fmla="*/ 52108 w 367030"/>
                <a:gd name="T31" fmla="*/ 204482 h 353059"/>
                <a:gd name="T32" fmla="*/ 72478 w 367030"/>
                <a:gd name="T33" fmla="*/ 168059 h 353059"/>
                <a:gd name="T34" fmla="*/ 136055 w 367030"/>
                <a:gd name="T35" fmla="*/ 92684 h 353059"/>
                <a:gd name="T36" fmla="*/ 136474 w 367030"/>
                <a:gd name="T37" fmla="*/ 92100 h 353059"/>
                <a:gd name="T38" fmla="*/ 136931 w 367030"/>
                <a:gd name="T39" fmla="*/ 91541 h 353059"/>
                <a:gd name="T40" fmla="*/ 158559 w 367030"/>
                <a:gd name="T41" fmla="*/ 57835 h 353059"/>
                <a:gd name="T42" fmla="*/ 168376 w 367030"/>
                <a:gd name="T43" fmla="*/ 25158 h 353059"/>
                <a:gd name="T44" fmla="*/ 367004 w 367030"/>
                <a:gd name="T45" fmla="*/ 163309 h 353059"/>
                <a:gd name="T46" fmla="*/ 357873 w 367030"/>
                <a:gd name="T47" fmla="*/ 118300 h 353059"/>
                <a:gd name="T48" fmla="*/ 336550 w 367030"/>
                <a:gd name="T49" fmla="*/ 74422 h 353059"/>
                <a:gd name="T50" fmla="*/ 303860 w 367030"/>
                <a:gd name="T51" fmla="*/ 37465 h 353059"/>
                <a:gd name="T52" fmla="*/ 296189 w 367030"/>
                <a:gd name="T53" fmla="*/ 31965 h 353059"/>
                <a:gd name="T54" fmla="*/ 317741 w 367030"/>
                <a:gd name="T55" fmla="*/ 64109 h 353059"/>
                <a:gd name="T56" fmla="*/ 323240 w 367030"/>
                <a:gd name="T57" fmla="*/ 105549 h 353059"/>
                <a:gd name="T58" fmla="*/ 314667 w 367030"/>
                <a:gd name="T59" fmla="*/ 148285 h 353059"/>
                <a:gd name="T60" fmla="*/ 294297 w 367030"/>
                <a:gd name="T61" fmla="*/ 184708 h 353059"/>
                <a:gd name="T62" fmla="*/ 230720 w 367030"/>
                <a:gd name="T63" fmla="*/ 260083 h 353059"/>
                <a:gd name="T64" fmla="*/ 230301 w 367030"/>
                <a:gd name="T65" fmla="*/ 260667 h 353059"/>
                <a:gd name="T66" fmla="*/ 229844 w 367030"/>
                <a:gd name="T67" fmla="*/ 261226 h 353059"/>
                <a:gd name="T68" fmla="*/ 208216 w 367030"/>
                <a:gd name="T69" fmla="*/ 294932 h 353059"/>
                <a:gd name="T70" fmla="*/ 198412 w 367030"/>
                <a:gd name="T71" fmla="*/ 327596 h 353059"/>
                <a:gd name="T72" fmla="*/ 205397 w 367030"/>
                <a:gd name="T73" fmla="*/ 350024 h 353059"/>
                <a:gd name="T74" fmla="*/ 232676 w 367030"/>
                <a:gd name="T75" fmla="*/ 352844 h 353059"/>
                <a:gd name="T76" fmla="*/ 237553 w 367030"/>
                <a:gd name="T77" fmla="*/ 351853 h 353059"/>
                <a:gd name="T78" fmla="*/ 285318 w 367030"/>
                <a:gd name="T79" fmla="*/ 329844 h 353059"/>
                <a:gd name="T80" fmla="*/ 317474 w 367030"/>
                <a:gd name="T81" fmla="*/ 301548 h 353059"/>
                <a:gd name="T82" fmla="*/ 348576 w 367030"/>
                <a:gd name="T83" fmla="*/ 257378 h 353059"/>
                <a:gd name="T84" fmla="*/ 364083 w 367030"/>
                <a:gd name="T85" fmla="*/ 211277 h 353059"/>
                <a:gd name="T86" fmla="*/ 364464 w 367030"/>
                <a:gd name="T87" fmla="*/ 209245 h 353059"/>
                <a:gd name="T88" fmla="*/ 367004 w 367030"/>
                <a:gd name="T89" fmla="*/ 163309 h 353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nl-BE"/>
            </a:p>
          </p:txBody>
        </p:sp>
      </p:grpSp>
      <p:pic>
        <p:nvPicPr>
          <p:cNvPr id="8" name="object 7">
            <a:extLst>
              <a:ext uri="{FF2B5EF4-FFF2-40B4-BE49-F238E27FC236}">
                <a16:creationId xmlns:a16="http://schemas.microsoft.com/office/drawing/2014/main" id="{BB0F09E2-300F-3D7B-45C0-2C4D5A0D5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3038" y="6338888"/>
            <a:ext cx="412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C0B9781-FCCF-FA64-3F63-1F3F312B20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 smtClean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defRPr/>
            </a:pPr>
            <a:fld id="{58970697-AD87-4807-B496-E55323FB97B2}" type="slidenum">
              <a:rPr lang="nl-BE"/>
              <a:pPr>
                <a:defRPr/>
              </a:pPr>
              <a:t>‹N°›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7484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2E204FD-454A-1CDF-5E2F-6CC0F2BFE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12192000" cy="616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09BC69BB-8176-DC75-C03D-4E5A6772B247}"/>
              </a:ext>
            </a:extLst>
          </p:cNvPr>
          <p:cNvGrpSpPr>
            <a:grpSpLocks/>
          </p:cNvGrpSpPr>
          <p:nvPr/>
        </p:nvGrpSpPr>
        <p:grpSpPr bwMode="auto">
          <a:xfrm>
            <a:off x="231775" y="6311900"/>
            <a:ext cx="366713" cy="352425"/>
            <a:chOff x="232043" y="6311872"/>
            <a:chExt cx="367030" cy="35306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CD2656E4-01BE-E49A-F896-E780F77154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165" y="6432114"/>
              <a:ext cx="112745" cy="112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31546EF-E1E0-0CA4-1786-FD611138E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41" y="6312128"/>
              <a:ext cx="367030" cy="352425"/>
            </a:xfrm>
            <a:custGeom>
              <a:avLst/>
              <a:gdLst>
                <a:gd name="T0" fmla="*/ 167398 w 367030"/>
                <a:gd name="T1" fmla="*/ 327253 h 352425"/>
                <a:gd name="T2" fmla="*/ 157797 w 367030"/>
                <a:gd name="T3" fmla="*/ 294513 h 352425"/>
                <a:gd name="T4" fmla="*/ 136385 w 367030"/>
                <a:gd name="T5" fmla="*/ 260680 h 352425"/>
                <a:gd name="T6" fmla="*/ 135928 w 367030"/>
                <a:gd name="T7" fmla="*/ 260121 h 352425"/>
                <a:gd name="T8" fmla="*/ 135509 w 367030"/>
                <a:gd name="T9" fmla="*/ 259537 h 352425"/>
                <a:gd name="T10" fmla="*/ 135051 w 367030"/>
                <a:gd name="T11" fmla="*/ 258965 h 352425"/>
                <a:gd name="T12" fmla="*/ 72428 w 367030"/>
                <a:gd name="T13" fmla="*/ 183743 h 352425"/>
                <a:gd name="T14" fmla="*/ 52285 w 367030"/>
                <a:gd name="T15" fmla="*/ 147193 h 352425"/>
                <a:gd name="T16" fmla="*/ 43992 w 367030"/>
                <a:gd name="T17" fmla="*/ 104394 h 352425"/>
                <a:gd name="T18" fmla="*/ 49745 w 367030"/>
                <a:gd name="T19" fmla="*/ 62992 h 352425"/>
                <a:gd name="T20" fmla="*/ 71755 w 367030"/>
                <a:gd name="T21" fmla="*/ 30619 h 352425"/>
                <a:gd name="T22" fmla="*/ 72923 w 367030"/>
                <a:gd name="T23" fmla="*/ 29667 h 352425"/>
                <a:gd name="T24" fmla="*/ 74104 w 367030"/>
                <a:gd name="T25" fmla="*/ 28752 h 352425"/>
                <a:gd name="T26" fmla="*/ 75298 w 367030"/>
                <a:gd name="T27" fmla="*/ 27863 h 352425"/>
                <a:gd name="T28" fmla="*/ 75196 w 367030"/>
                <a:gd name="T29" fmla="*/ 27736 h 352425"/>
                <a:gd name="T30" fmla="*/ 44335 w 367030"/>
                <a:gd name="T31" fmla="*/ 56032 h 352425"/>
                <a:gd name="T32" fmla="*/ 17322 w 367030"/>
                <a:gd name="T33" fmla="*/ 97307 h 352425"/>
                <a:gd name="T34" fmla="*/ 2590 w 367030"/>
                <a:gd name="T35" fmla="*/ 142684 h 352425"/>
                <a:gd name="T36" fmla="*/ 0 w 367030"/>
                <a:gd name="T37" fmla="*/ 189661 h 352425"/>
                <a:gd name="T38" fmla="*/ 9334 w 367030"/>
                <a:gd name="T39" fmla="*/ 235775 h 352425"/>
                <a:gd name="T40" fmla="*/ 29946 w 367030"/>
                <a:gd name="T41" fmla="*/ 277533 h 352425"/>
                <a:gd name="T42" fmla="*/ 62407 w 367030"/>
                <a:gd name="T43" fmla="*/ 314680 h 352425"/>
                <a:gd name="T44" fmla="*/ 104432 w 367030"/>
                <a:gd name="T45" fmla="*/ 342531 h 352425"/>
                <a:gd name="T46" fmla="*/ 134112 w 367030"/>
                <a:gd name="T47" fmla="*/ 352171 h 352425"/>
                <a:gd name="T48" fmla="*/ 160261 w 367030"/>
                <a:gd name="T49" fmla="*/ 349631 h 352425"/>
                <a:gd name="T50" fmla="*/ 167398 w 367030"/>
                <a:gd name="T51" fmla="*/ 327253 h 352425"/>
                <a:gd name="T52" fmla="*/ 366979 w 367030"/>
                <a:gd name="T53" fmla="*/ 163182 h 352425"/>
                <a:gd name="T54" fmla="*/ 357682 w 367030"/>
                <a:gd name="T55" fmla="*/ 117106 h 352425"/>
                <a:gd name="T56" fmla="*/ 336791 w 367030"/>
                <a:gd name="T57" fmla="*/ 74676 h 352425"/>
                <a:gd name="T58" fmla="*/ 303847 w 367030"/>
                <a:gd name="T59" fmla="*/ 37198 h 352425"/>
                <a:gd name="T60" fmla="*/ 248678 w 367030"/>
                <a:gd name="T61" fmla="*/ 4457 h 352425"/>
                <a:gd name="T62" fmla="*/ 233578 w 367030"/>
                <a:gd name="T63" fmla="*/ 0 h 352425"/>
                <a:gd name="T64" fmla="*/ 206502 w 367030"/>
                <a:gd name="T65" fmla="*/ 2628 h 352425"/>
                <a:gd name="T66" fmla="*/ 199364 w 367030"/>
                <a:gd name="T67" fmla="*/ 25006 h 352425"/>
                <a:gd name="T68" fmla="*/ 208965 w 367030"/>
                <a:gd name="T69" fmla="*/ 57734 h 352425"/>
                <a:gd name="T70" fmla="*/ 230390 w 367030"/>
                <a:gd name="T71" fmla="*/ 91579 h 352425"/>
                <a:gd name="T72" fmla="*/ 230835 w 367030"/>
                <a:gd name="T73" fmla="*/ 92138 h 352425"/>
                <a:gd name="T74" fmla="*/ 231254 w 367030"/>
                <a:gd name="T75" fmla="*/ 92722 h 352425"/>
                <a:gd name="T76" fmla="*/ 231711 w 367030"/>
                <a:gd name="T77" fmla="*/ 93294 h 352425"/>
                <a:gd name="T78" fmla="*/ 294335 w 367030"/>
                <a:gd name="T79" fmla="*/ 168516 h 352425"/>
                <a:gd name="T80" fmla="*/ 314477 w 367030"/>
                <a:gd name="T81" fmla="*/ 205066 h 352425"/>
                <a:gd name="T82" fmla="*/ 322770 w 367030"/>
                <a:gd name="T83" fmla="*/ 247853 h 352425"/>
                <a:gd name="T84" fmla="*/ 317017 w 367030"/>
                <a:gd name="T85" fmla="*/ 289255 h 352425"/>
                <a:gd name="T86" fmla="*/ 295808 w 367030"/>
                <a:gd name="T87" fmla="*/ 320459 h 352425"/>
                <a:gd name="T88" fmla="*/ 321652 w 367030"/>
                <a:gd name="T89" fmla="*/ 297599 h 352425"/>
                <a:gd name="T90" fmla="*/ 349453 w 367030"/>
                <a:gd name="T91" fmla="*/ 255752 h 352425"/>
                <a:gd name="T92" fmla="*/ 364286 w 367030"/>
                <a:gd name="T93" fmla="*/ 210362 h 352425"/>
                <a:gd name="T94" fmla="*/ 364401 w 367030"/>
                <a:gd name="T95" fmla="*/ 209804 h 352425"/>
                <a:gd name="T96" fmla="*/ 366979 w 367030"/>
                <a:gd name="T97" fmla="*/ 163182 h 352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67030" h="352425">
                  <a:moveTo>
                    <a:pt x="167398" y="327253"/>
                  </a:moveTo>
                  <a:lnTo>
                    <a:pt x="157797" y="294513"/>
                  </a:lnTo>
                  <a:lnTo>
                    <a:pt x="136385" y="260680"/>
                  </a:lnTo>
                  <a:lnTo>
                    <a:pt x="135928" y="260121"/>
                  </a:lnTo>
                  <a:lnTo>
                    <a:pt x="135509" y="259537"/>
                  </a:lnTo>
                  <a:lnTo>
                    <a:pt x="135051" y="258965"/>
                  </a:lnTo>
                  <a:lnTo>
                    <a:pt x="72428" y="183743"/>
                  </a:lnTo>
                  <a:lnTo>
                    <a:pt x="52285" y="147193"/>
                  </a:lnTo>
                  <a:lnTo>
                    <a:pt x="43992" y="104394"/>
                  </a:lnTo>
                  <a:lnTo>
                    <a:pt x="49745" y="62992"/>
                  </a:lnTo>
                  <a:lnTo>
                    <a:pt x="71755" y="30619"/>
                  </a:lnTo>
                  <a:lnTo>
                    <a:pt x="72923" y="29667"/>
                  </a:lnTo>
                  <a:lnTo>
                    <a:pt x="74104" y="28752"/>
                  </a:lnTo>
                  <a:lnTo>
                    <a:pt x="75298" y="27863"/>
                  </a:lnTo>
                  <a:lnTo>
                    <a:pt x="75196" y="27736"/>
                  </a:lnTo>
                  <a:lnTo>
                    <a:pt x="44335" y="56032"/>
                  </a:lnTo>
                  <a:lnTo>
                    <a:pt x="17322" y="97307"/>
                  </a:lnTo>
                  <a:lnTo>
                    <a:pt x="2590" y="142684"/>
                  </a:lnTo>
                  <a:lnTo>
                    <a:pt x="0" y="189661"/>
                  </a:lnTo>
                  <a:lnTo>
                    <a:pt x="9334" y="235775"/>
                  </a:lnTo>
                  <a:lnTo>
                    <a:pt x="29946" y="277533"/>
                  </a:lnTo>
                  <a:lnTo>
                    <a:pt x="62407" y="314680"/>
                  </a:lnTo>
                  <a:lnTo>
                    <a:pt x="104432" y="342531"/>
                  </a:lnTo>
                  <a:lnTo>
                    <a:pt x="134112" y="352171"/>
                  </a:lnTo>
                  <a:lnTo>
                    <a:pt x="160261" y="349631"/>
                  </a:lnTo>
                  <a:lnTo>
                    <a:pt x="167398" y="327253"/>
                  </a:lnTo>
                  <a:close/>
                </a:path>
                <a:path w="367030" h="352425">
                  <a:moveTo>
                    <a:pt x="366979" y="163182"/>
                  </a:moveTo>
                  <a:lnTo>
                    <a:pt x="357682" y="117106"/>
                  </a:lnTo>
                  <a:lnTo>
                    <a:pt x="336791" y="74676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78" y="0"/>
                  </a:lnTo>
                  <a:lnTo>
                    <a:pt x="206502" y="2628"/>
                  </a:lnTo>
                  <a:lnTo>
                    <a:pt x="199364" y="25006"/>
                  </a:lnTo>
                  <a:lnTo>
                    <a:pt x="208965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77" y="205066"/>
                  </a:lnTo>
                  <a:lnTo>
                    <a:pt x="322770" y="247853"/>
                  </a:lnTo>
                  <a:lnTo>
                    <a:pt x="317017" y="289255"/>
                  </a:lnTo>
                  <a:lnTo>
                    <a:pt x="295808" y="320459"/>
                  </a:lnTo>
                  <a:lnTo>
                    <a:pt x="321652" y="297599"/>
                  </a:lnTo>
                  <a:lnTo>
                    <a:pt x="349453" y="255752"/>
                  </a:lnTo>
                  <a:lnTo>
                    <a:pt x="364286" y="210362"/>
                  </a:lnTo>
                  <a:lnTo>
                    <a:pt x="364401" y="209804"/>
                  </a:lnTo>
                  <a:lnTo>
                    <a:pt x="366979" y="163182"/>
                  </a:lnTo>
                  <a:close/>
                </a:path>
              </a:pathLst>
            </a:custGeom>
            <a:solidFill>
              <a:srgbClr val="6BBE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nl-BE"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8BC06524-DEB8-8B11-091C-8AD8FD645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41" y="6311874"/>
              <a:ext cx="367030" cy="353060"/>
            </a:xfrm>
            <a:custGeom>
              <a:avLst/>
              <a:gdLst>
                <a:gd name="T0" fmla="*/ 168363 w 367030"/>
                <a:gd name="T1" fmla="*/ 25158 h 353059"/>
                <a:gd name="T2" fmla="*/ 161378 w 367030"/>
                <a:gd name="T3" fmla="*/ 2730 h 353059"/>
                <a:gd name="T4" fmla="*/ 134886 w 367030"/>
                <a:gd name="T5" fmla="*/ 0 h 353059"/>
                <a:gd name="T6" fmla="*/ 108254 w 367030"/>
                <a:gd name="T7" fmla="*/ 8674 h 353059"/>
                <a:gd name="T8" fmla="*/ 74193 w 367030"/>
                <a:gd name="T9" fmla="*/ 28587 h 353059"/>
                <a:gd name="T10" fmla="*/ 45262 w 367030"/>
                <a:gd name="T11" fmla="*/ 55422 h 353059"/>
                <a:gd name="T12" fmla="*/ 17322 w 367030"/>
                <a:gd name="T13" fmla="*/ 97561 h 353059"/>
                <a:gd name="T14" fmla="*/ 2590 w 367030"/>
                <a:gd name="T15" fmla="*/ 142938 h 353059"/>
                <a:gd name="T16" fmla="*/ 0 w 367030"/>
                <a:gd name="T17" fmla="*/ 189915 h 353059"/>
                <a:gd name="T18" fmla="*/ 9169 w 367030"/>
                <a:gd name="T19" fmla="*/ 235178 h 353059"/>
                <a:gd name="T20" fmla="*/ 30441 w 367030"/>
                <a:gd name="T21" fmla="*/ 278803 h 353059"/>
                <a:gd name="T22" fmla="*/ 62420 w 367030"/>
                <a:gd name="T23" fmla="*/ 314960 h 353059"/>
                <a:gd name="T24" fmla="*/ 70383 w 367030"/>
                <a:gd name="T25" fmla="*/ 320509 h 353059"/>
                <a:gd name="T26" fmla="*/ 49034 w 367030"/>
                <a:gd name="T27" fmla="*/ 288658 h 353059"/>
                <a:gd name="T28" fmla="*/ 43535 w 367030"/>
                <a:gd name="T29" fmla="*/ 247218 h 353059"/>
                <a:gd name="T30" fmla="*/ 52095 w 367030"/>
                <a:gd name="T31" fmla="*/ 204482 h 353059"/>
                <a:gd name="T32" fmla="*/ 72466 w 367030"/>
                <a:gd name="T33" fmla="*/ 168059 h 353059"/>
                <a:gd name="T34" fmla="*/ 136042 w 367030"/>
                <a:gd name="T35" fmla="*/ 92684 h 353059"/>
                <a:gd name="T36" fmla="*/ 136461 w 367030"/>
                <a:gd name="T37" fmla="*/ 92100 h 353059"/>
                <a:gd name="T38" fmla="*/ 136918 w 367030"/>
                <a:gd name="T39" fmla="*/ 91541 h 353059"/>
                <a:gd name="T40" fmla="*/ 158559 w 367030"/>
                <a:gd name="T41" fmla="*/ 57835 h 353059"/>
                <a:gd name="T42" fmla="*/ 168363 w 367030"/>
                <a:gd name="T43" fmla="*/ 25158 h 353059"/>
                <a:gd name="T44" fmla="*/ 366991 w 367030"/>
                <a:gd name="T45" fmla="*/ 163309 h 353059"/>
                <a:gd name="T46" fmla="*/ 357860 w 367030"/>
                <a:gd name="T47" fmla="*/ 118287 h 353059"/>
                <a:gd name="T48" fmla="*/ 336537 w 367030"/>
                <a:gd name="T49" fmla="*/ 74422 h 353059"/>
                <a:gd name="T50" fmla="*/ 303834 w 367030"/>
                <a:gd name="T51" fmla="*/ 37465 h 353059"/>
                <a:gd name="T52" fmla="*/ 296176 w 367030"/>
                <a:gd name="T53" fmla="*/ 31965 h 353059"/>
                <a:gd name="T54" fmla="*/ 317728 w 367030"/>
                <a:gd name="T55" fmla="*/ 64109 h 353059"/>
                <a:gd name="T56" fmla="*/ 323227 w 367030"/>
                <a:gd name="T57" fmla="*/ 105549 h 353059"/>
                <a:gd name="T58" fmla="*/ 314655 w 367030"/>
                <a:gd name="T59" fmla="*/ 148285 h 353059"/>
                <a:gd name="T60" fmla="*/ 294297 w 367030"/>
                <a:gd name="T61" fmla="*/ 184708 h 353059"/>
                <a:gd name="T62" fmla="*/ 230720 w 367030"/>
                <a:gd name="T63" fmla="*/ 260083 h 353059"/>
                <a:gd name="T64" fmla="*/ 230301 w 367030"/>
                <a:gd name="T65" fmla="*/ 260667 h 353059"/>
                <a:gd name="T66" fmla="*/ 229844 w 367030"/>
                <a:gd name="T67" fmla="*/ 261226 h 353059"/>
                <a:gd name="T68" fmla="*/ 208203 w 367030"/>
                <a:gd name="T69" fmla="*/ 294932 h 353059"/>
                <a:gd name="T70" fmla="*/ 198399 w 367030"/>
                <a:gd name="T71" fmla="*/ 327596 h 353059"/>
                <a:gd name="T72" fmla="*/ 205384 w 367030"/>
                <a:gd name="T73" fmla="*/ 350024 h 353059"/>
                <a:gd name="T74" fmla="*/ 232676 w 367030"/>
                <a:gd name="T75" fmla="*/ 352844 h 353059"/>
                <a:gd name="T76" fmla="*/ 237540 w 367030"/>
                <a:gd name="T77" fmla="*/ 351853 h 353059"/>
                <a:gd name="T78" fmla="*/ 285305 w 367030"/>
                <a:gd name="T79" fmla="*/ 329844 h 353059"/>
                <a:gd name="T80" fmla="*/ 317474 w 367030"/>
                <a:gd name="T81" fmla="*/ 301548 h 353059"/>
                <a:gd name="T82" fmla="*/ 348564 w 367030"/>
                <a:gd name="T83" fmla="*/ 257365 h 353059"/>
                <a:gd name="T84" fmla="*/ 364083 w 367030"/>
                <a:gd name="T85" fmla="*/ 211264 h 353059"/>
                <a:gd name="T86" fmla="*/ 364451 w 367030"/>
                <a:gd name="T87" fmla="*/ 209257 h 353059"/>
                <a:gd name="T88" fmla="*/ 366991 w 367030"/>
                <a:gd name="T89" fmla="*/ 163309 h 353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67030" h="353059">
                  <a:moveTo>
                    <a:pt x="168363" y="25158"/>
                  </a:moveTo>
                  <a:lnTo>
                    <a:pt x="161378" y="2730"/>
                  </a:lnTo>
                  <a:lnTo>
                    <a:pt x="134886" y="0"/>
                  </a:lnTo>
                  <a:lnTo>
                    <a:pt x="108254" y="8674"/>
                  </a:lnTo>
                  <a:lnTo>
                    <a:pt x="74193" y="28587"/>
                  </a:lnTo>
                  <a:lnTo>
                    <a:pt x="45262" y="55422"/>
                  </a:lnTo>
                  <a:lnTo>
                    <a:pt x="17322" y="97561"/>
                  </a:lnTo>
                  <a:lnTo>
                    <a:pt x="2590" y="142938"/>
                  </a:lnTo>
                  <a:lnTo>
                    <a:pt x="0" y="189915"/>
                  </a:lnTo>
                  <a:lnTo>
                    <a:pt x="9169" y="235178"/>
                  </a:lnTo>
                  <a:lnTo>
                    <a:pt x="30441" y="278803"/>
                  </a:lnTo>
                  <a:lnTo>
                    <a:pt x="62420" y="314960"/>
                  </a:lnTo>
                  <a:lnTo>
                    <a:pt x="70383" y="320509"/>
                  </a:lnTo>
                  <a:lnTo>
                    <a:pt x="49034" y="288658"/>
                  </a:lnTo>
                  <a:lnTo>
                    <a:pt x="43535" y="247218"/>
                  </a:lnTo>
                  <a:lnTo>
                    <a:pt x="52095" y="204482"/>
                  </a:lnTo>
                  <a:lnTo>
                    <a:pt x="72466" y="168059"/>
                  </a:lnTo>
                  <a:lnTo>
                    <a:pt x="136042" y="92684"/>
                  </a:lnTo>
                  <a:lnTo>
                    <a:pt x="136461" y="92100"/>
                  </a:lnTo>
                  <a:lnTo>
                    <a:pt x="136918" y="91541"/>
                  </a:lnTo>
                  <a:lnTo>
                    <a:pt x="158559" y="57835"/>
                  </a:lnTo>
                  <a:lnTo>
                    <a:pt x="168363" y="25158"/>
                  </a:lnTo>
                  <a:close/>
                </a:path>
                <a:path w="367030" h="353059">
                  <a:moveTo>
                    <a:pt x="366991" y="163309"/>
                  </a:moveTo>
                  <a:lnTo>
                    <a:pt x="357860" y="118287"/>
                  </a:lnTo>
                  <a:lnTo>
                    <a:pt x="336537" y="74422"/>
                  </a:lnTo>
                  <a:lnTo>
                    <a:pt x="303834" y="37465"/>
                  </a:lnTo>
                  <a:lnTo>
                    <a:pt x="296176" y="31965"/>
                  </a:lnTo>
                  <a:lnTo>
                    <a:pt x="317728" y="64109"/>
                  </a:lnTo>
                  <a:lnTo>
                    <a:pt x="323227" y="105549"/>
                  </a:lnTo>
                  <a:lnTo>
                    <a:pt x="314655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03" y="294932"/>
                  </a:lnTo>
                  <a:lnTo>
                    <a:pt x="198399" y="327596"/>
                  </a:lnTo>
                  <a:lnTo>
                    <a:pt x="205384" y="350024"/>
                  </a:lnTo>
                  <a:lnTo>
                    <a:pt x="232676" y="352844"/>
                  </a:lnTo>
                  <a:lnTo>
                    <a:pt x="237540" y="351853"/>
                  </a:lnTo>
                  <a:lnTo>
                    <a:pt x="285305" y="329844"/>
                  </a:lnTo>
                  <a:lnTo>
                    <a:pt x="317474" y="301548"/>
                  </a:lnTo>
                  <a:lnTo>
                    <a:pt x="348564" y="257365"/>
                  </a:lnTo>
                  <a:lnTo>
                    <a:pt x="364083" y="211264"/>
                  </a:lnTo>
                  <a:lnTo>
                    <a:pt x="364451" y="209257"/>
                  </a:lnTo>
                  <a:lnTo>
                    <a:pt x="366991" y="163309"/>
                  </a:lnTo>
                  <a:close/>
                </a:path>
              </a:pathLst>
            </a:custGeom>
            <a:solidFill>
              <a:srgbClr val="317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nl-BE"/>
            </a:p>
          </p:txBody>
        </p:sp>
      </p:grpSp>
      <p:pic>
        <p:nvPicPr>
          <p:cNvPr id="9" name="object 8">
            <a:extLst>
              <a:ext uri="{FF2B5EF4-FFF2-40B4-BE49-F238E27FC236}">
                <a16:creationId xmlns:a16="http://schemas.microsoft.com/office/drawing/2014/main" id="{8A5B4A6F-AEB0-D9B0-1E1A-C8B625344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9863" y="6338888"/>
            <a:ext cx="412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object 9">
            <a:extLst>
              <a:ext uri="{FF2B5EF4-FFF2-40B4-BE49-F238E27FC236}">
                <a16:creationId xmlns:a16="http://schemas.microsoft.com/office/drawing/2014/main" id="{47E0151E-F087-E821-F272-2A6B2A69AA08}"/>
              </a:ext>
            </a:extLst>
          </p:cNvPr>
          <p:cNvSpPr>
            <a:spLocks/>
          </p:cNvSpPr>
          <p:nvPr/>
        </p:nvSpPr>
        <p:spPr bwMode="auto">
          <a:xfrm>
            <a:off x="1300163" y="1584325"/>
            <a:ext cx="5184775" cy="0"/>
          </a:xfrm>
          <a:custGeom>
            <a:avLst/>
            <a:gdLst>
              <a:gd name="T0" fmla="*/ 0 w 5184140"/>
              <a:gd name="T1" fmla="*/ 5184000 w 518414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5184140">
                <a:moveTo>
                  <a:pt x="0" y="0"/>
                </a:moveTo>
                <a:lnTo>
                  <a:pt x="5184000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nl-BE"/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D3EA7ABA-B34C-914D-EDC5-497692A06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5" y="6380163"/>
            <a:ext cx="1082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9166" y="1886547"/>
            <a:ext cx="9144000" cy="1655762"/>
          </a:xfrm>
        </p:spPr>
        <p:txBody>
          <a:bodyPr/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09166" y="668852"/>
            <a:ext cx="10515600" cy="1129468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04411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22BAB28-1AA4-95E2-72D2-424348A875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BACD9-8B79-4111-9CC4-1D47812DC53E}" type="slidenum">
              <a:rPr lang="nl-BE"/>
              <a:pPr>
                <a:defRPr/>
              </a:pPr>
              <a:t>‹N°›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570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A5D0761-3834-72F7-EE94-416AE93F67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AEF46-D866-4A31-9B28-78DBD062D48E}" type="slidenum">
              <a:rPr lang="nl-BE"/>
              <a:pPr>
                <a:defRPr/>
              </a:pPr>
              <a:t>‹N°›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1786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A3DEDE-5DC2-8034-1389-3CB90E0D58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0F377D-A975-43FD-B608-4C70DEFB644C}" type="slidenum">
              <a:rPr lang="nl-BE"/>
              <a:pPr>
                <a:defRPr/>
              </a:pPr>
              <a:t>‹N°›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41817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nl-NL" noProof="0"/>
              <a:t>Klik op het pictogram als u een afbeelding wilt toevoegen</a:t>
            </a:r>
            <a:endParaRPr lang="nl-B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189E980-3904-12D8-4888-80BE78160B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AA583-896F-4E20-B589-03D9933F8177}" type="slidenum">
              <a:rPr lang="nl-BE"/>
              <a:pPr>
                <a:defRPr/>
              </a:pPr>
              <a:t>‹N°›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9603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5DAB-3874-8D45-AD8E-A2150A17AFAC}" type="datetime1">
              <a:rPr lang="nl-BE" smtClean="0"/>
              <a:t>9/07/2025</a:t>
            </a:fld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‹N°›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230232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A2AA1-63BF-0947-85CD-0DF9B5F3510F}" type="datetime1">
              <a:rPr lang="nl-BE" smtClean="0"/>
              <a:t>9/07/2025</a:t>
            </a:fld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‹N°›</a:t>
            </a:fld>
            <a:endParaRPr lang="nl-NL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49239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5361667" y="4854367"/>
            <a:ext cx="5877200" cy="1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7765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700" y="0"/>
            <a:ext cx="45393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3117417"/>
            <a:ext cx="4590473" cy="2387600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1319718"/>
            <a:ext cx="4590473" cy="1655762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0" i="0" baseline="0">
                <a:solidFill>
                  <a:srgbClr val="2C7F9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00" b="1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DM Serif Text" pitchFamily="2" charset="0"/>
              </a:defRPr>
            </a:lvl1pPr>
          </a:lstStyle>
          <a:p>
            <a:fld id="{C2A901C9-CDC9-4668-AE39-91D9AAC8821A}" type="datetime1">
              <a:rPr lang="fr-BE" smtClean="0"/>
              <a:t>09/07/25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380999"/>
            <a:ext cx="983414" cy="38608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463800"/>
            <a:ext cx="987540" cy="1967052"/>
          </a:xfrm>
          <a:prstGeom prst="rect">
            <a:avLst/>
          </a:prstGeom>
        </p:spPr>
      </p:pic>
      <p:sp>
        <p:nvSpPr>
          <p:cNvPr id="10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8759502" y="-7498"/>
            <a:ext cx="3432749" cy="6865498"/>
          </a:xfrm>
          <a:custGeom>
            <a:avLst/>
            <a:gdLst>
              <a:gd name="connsiteX0" fmla="*/ 6858000 w 6858000"/>
              <a:gd name="connsiteY0" fmla="*/ 3429000 h 6858000"/>
              <a:gd name="connsiteX1" fmla="*/ 3429000 w 6858000"/>
              <a:gd name="connsiteY1" fmla="*/ 6858000 h 6858000"/>
              <a:gd name="connsiteX2" fmla="*/ 0 w 6858000"/>
              <a:gd name="connsiteY2" fmla="*/ 3429000 h 6858000"/>
              <a:gd name="connsiteX3" fmla="*/ 3429000 w 6858000"/>
              <a:gd name="connsiteY3" fmla="*/ 0 h 6858000"/>
              <a:gd name="connsiteX4" fmla="*/ 3429000 w 6858000"/>
              <a:gd name="connsiteY4" fmla="*/ 3429000 h 6858000"/>
              <a:gd name="connsiteX5" fmla="*/ 6858000 w 6858000"/>
              <a:gd name="connsiteY5" fmla="*/ 3429000 h 6858000"/>
              <a:gd name="connsiteX0" fmla="*/ 3429000 w 3429000"/>
              <a:gd name="connsiteY0" fmla="*/ 3429000 h 6858000"/>
              <a:gd name="connsiteX1" fmla="*/ 3429000 w 3429000"/>
              <a:gd name="connsiteY1" fmla="*/ 6858000 h 6858000"/>
              <a:gd name="connsiteX2" fmla="*/ 0 w 3429000"/>
              <a:gd name="connsiteY2" fmla="*/ 3429000 h 6858000"/>
              <a:gd name="connsiteX3" fmla="*/ 3429000 w 3429000"/>
              <a:gd name="connsiteY3" fmla="*/ 0 h 6858000"/>
              <a:gd name="connsiteX4" fmla="*/ 3429000 w 3429000"/>
              <a:gd name="connsiteY4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9000" h="6858000">
                <a:moveTo>
                  <a:pt x="3429000" y="3429000"/>
                </a:move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lnTo>
                  <a:pt x="3429000" y="342900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5690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199" y="1510001"/>
            <a:ext cx="5100783" cy="10300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2C7F9F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2835563"/>
            <a:ext cx="4542323" cy="3341399"/>
          </a:xfrm>
        </p:spPr>
        <p:txBody>
          <a:bodyPr>
            <a:normAutofit/>
          </a:bodyPr>
          <a:lstStyle>
            <a:lvl1pPr marL="0" indent="0" defTabSz="914400">
              <a:lnSpc>
                <a:spcPct val="150000"/>
              </a:lnSpc>
              <a:buFont typeface="Arial" panose="020B0604020202020204" pitchFamily="34" charset="0"/>
              <a:buNone/>
              <a:tabLst>
                <a:tab pos="4572000" algn="l"/>
              </a:tabLst>
              <a:defRPr lang="en-US" sz="1600" b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Font typeface="+mj-lt"/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Font typeface="+mj-lt"/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Font typeface="+mj-lt"/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Font typeface="+mj-lt"/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4" hasCustomPrompt="1"/>
          </p:nvPr>
        </p:nvSpPr>
        <p:spPr>
          <a:xfrm>
            <a:off x="5435270" y="2835562"/>
            <a:ext cx="520762" cy="3341399"/>
          </a:xfrm>
        </p:spPr>
        <p:txBody>
          <a:bodyPr>
            <a:normAutofit/>
          </a:bodyPr>
          <a:lstStyle>
            <a:lvl1pPr marL="0" indent="0" algn="r" defTabSz="914400">
              <a:lnSpc>
                <a:spcPct val="150000"/>
              </a:lnSpc>
              <a:buFont typeface="Arial" panose="020B0604020202020204" pitchFamily="34" charset="0"/>
              <a:buNone/>
              <a:tabLst>
                <a:tab pos="4572000" algn="l"/>
              </a:tabLst>
              <a:defRPr lang="en-US" sz="1600" b="1" i="0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Font typeface="+mj-lt"/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Font typeface="+mj-lt"/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Font typeface="+mj-lt"/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Font typeface="+mj-lt"/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838199" y="6264639"/>
            <a:ext cx="5056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1356E26-996F-433A-9CA0-83DB24D6E075}" type="slidenum">
              <a:rPr lang="en-US" sz="1100" b="0" i="0" baseline="0" smtClean="0">
                <a:solidFill>
                  <a:srgbClr val="2C7F9F"/>
                </a:solidFill>
                <a:latin typeface="DM Serif Text" pitchFamily="2" charset="0"/>
              </a:rPr>
              <a:pPr algn="l"/>
              <a:t>‹N°›</a:t>
            </a:fld>
            <a:r>
              <a:rPr lang="en-US" sz="1100" b="0" i="0" baseline="0">
                <a:solidFill>
                  <a:srgbClr val="2C7F9F"/>
                </a:solidFill>
                <a:latin typeface="DM Serif Text" pitchFamily="2" charset="0"/>
              </a:rPr>
              <a:t>.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380999"/>
            <a:ext cx="983414" cy="38608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700" y="0"/>
            <a:ext cx="4539300" cy="6858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1762"/>
            <a:ext cx="762000" cy="1514475"/>
          </a:xfrm>
          <a:prstGeom prst="rect">
            <a:avLst/>
          </a:prstGeom>
        </p:spPr>
      </p:pic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09293" y="6264639"/>
            <a:ext cx="3322055" cy="365125"/>
          </a:xfrm>
          <a:prstGeom prst="rect">
            <a:avLst/>
          </a:prstGeom>
        </p:spPr>
        <p:txBody>
          <a:bodyPr anchor="b"/>
          <a:lstStyle>
            <a:lvl1pPr algn="l">
              <a:defRPr sz="11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DM Serif Text" pitchFamily="2" charset="0"/>
              </a:defRPr>
            </a:lvl1pPr>
          </a:lstStyle>
          <a:p>
            <a:r>
              <a:rPr lang="en-US"/>
              <a:t>Standardisation in Belgium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67157" y="6264639"/>
            <a:ext cx="684888" cy="365125"/>
          </a:xfrm>
          <a:prstGeom prst="rect">
            <a:avLst/>
          </a:prstGeom>
        </p:spPr>
        <p:txBody>
          <a:bodyPr anchor="b"/>
          <a:lstStyle>
            <a:lvl1pPr>
              <a:defRPr sz="900" b="1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DM Serif Text" pitchFamily="2" charset="0"/>
              </a:defRPr>
            </a:lvl1pPr>
          </a:lstStyle>
          <a:p>
            <a:fld id="{305EF4E1-04D2-443B-A992-7C9CAFA9AF20}" type="datetime1">
              <a:rPr lang="fr-BE" smtClean="0"/>
              <a:t>09/07/25</a:t>
            </a:fld>
            <a:endParaRPr lang="en-US"/>
          </a:p>
        </p:txBody>
      </p:sp>
      <p:sp>
        <p:nvSpPr>
          <p:cNvPr id="21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8759502" y="-7498"/>
            <a:ext cx="3432749" cy="6865498"/>
          </a:xfrm>
          <a:custGeom>
            <a:avLst/>
            <a:gdLst>
              <a:gd name="connsiteX0" fmla="*/ 6858000 w 6858000"/>
              <a:gd name="connsiteY0" fmla="*/ 3429000 h 6858000"/>
              <a:gd name="connsiteX1" fmla="*/ 3429000 w 6858000"/>
              <a:gd name="connsiteY1" fmla="*/ 6858000 h 6858000"/>
              <a:gd name="connsiteX2" fmla="*/ 0 w 6858000"/>
              <a:gd name="connsiteY2" fmla="*/ 3429000 h 6858000"/>
              <a:gd name="connsiteX3" fmla="*/ 3429000 w 6858000"/>
              <a:gd name="connsiteY3" fmla="*/ 0 h 6858000"/>
              <a:gd name="connsiteX4" fmla="*/ 3429000 w 6858000"/>
              <a:gd name="connsiteY4" fmla="*/ 3429000 h 6858000"/>
              <a:gd name="connsiteX5" fmla="*/ 6858000 w 6858000"/>
              <a:gd name="connsiteY5" fmla="*/ 3429000 h 6858000"/>
              <a:gd name="connsiteX0" fmla="*/ 3429000 w 3429000"/>
              <a:gd name="connsiteY0" fmla="*/ 3429000 h 6858000"/>
              <a:gd name="connsiteX1" fmla="*/ 3429000 w 3429000"/>
              <a:gd name="connsiteY1" fmla="*/ 6858000 h 6858000"/>
              <a:gd name="connsiteX2" fmla="*/ 0 w 3429000"/>
              <a:gd name="connsiteY2" fmla="*/ 3429000 h 6858000"/>
              <a:gd name="connsiteX3" fmla="*/ 3429000 w 3429000"/>
              <a:gd name="connsiteY3" fmla="*/ 0 h 6858000"/>
              <a:gd name="connsiteX4" fmla="*/ 3429000 w 3429000"/>
              <a:gd name="connsiteY4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9000" h="6858000">
                <a:moveTo>
                  <a:pt x="3429000" y="3429000"/>
                </a:move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lnTo>
                  <a:pt x="3429000" y="342900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39666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C7F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084" y="6243683"/>
            <a:ext cx="990600" cy="3905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3587" y="2310062"/>
            <a:ext cx="7324825" cy="2545305"/>
          </a:xfrm>
        </p:spPr>
        <p:txBody>
          <a:bodyPr anchor="t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441" y="0"/>
            <a:ext cx="8571116" cy="4289764"/>
          </a:xfrm>
          <a:prstGeom prst="rect">
            <a:avLst/>
          </a:prstGeom>
        </p:spPr>
      </p:pic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838199" y="6264639"/>
            <a:ext cx="5056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1356E26-996F-433A-9CA0-83DB24D6E075}" type="slidenum">
              <a:rPr lang="en-US" sz="1100" b="0" i="0" baseline="0" smtClean="0">
                <a:solidFill>
                  <a:schemeClr val="bg1"/>
                </a:solidFill>
                <a:latin typeface="DM Serif Text" pitchFamily="2" charset="0"/>
              </a:rPr>
              <a:pPr algn="l"/>
              <a:t>‹N°›</a:t>
            </a:fld>
            <a:r>
              <a:rPr lang="en-US" sz="1100" b="0" i="0" baseline="0">
                <a:solidFill>
                  <a:schemeClr val="bg1"/>
                </a:solidFill>
                <a:latin typeface="DM Serif Text" pitchFamily="2" charset="0"/>
              </a:rPr>
              <a:t>.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09293" y="6264639"/>
            <a:ext cx="3322055" cy="365125"/>
          </a:xfrm>
          <a:prstGeom prst="rect">
            <a:avLst/>
          </a:prstGeom>
        </p:spPr>
        <p:txBody>
          <a:bodyPr anchor="b"/>
          <a:lstStyle>
            <a:lvl1pPr algn="l">
              <a:defRPr sz="1100" b="0" i="0" baseline="0">
                <a:solidFill>
                  <a:schemeClr val="bg1"/>
                </a:solidFill>
                <a:latin typeface="DM Serif Text" pitchFamily="2" charset="0"/>
              </a:defRPr>
            </a:lvl1pPr>
          </a:lstStyle>
          <a:p>
            <a:r>
              <a:rPr lang="en-US"/>
              <a:t>Standardisation in Belgium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67157" y="6264639"/>
            <a:ext cx="684888" cy="365125"/>
          </a:xfrm>
          <a:prstGeom prst="rect">
            <a:avLst/>
          </a:prstGeom>
        </p:spPr>
        <p:txBody>
          <a:bodyPr anchor="b"/>
          <a:lstStyle>
            <a:lvl1pPr>
              <a:defRPr sz="900" b="1" i="0" baseline="0">
                <a:solidFill>
                  <a:schemeClr val="bg1"/>
                </a:solidFill>
                <a:latin typeface="DM Serif Text" pitchFamily="2" charset="0"/>
              </a:defRPr>
            </a:lvl1pPr>
          </a:lstStyle>
          <a:p>
            <a:fld id="{9E8D5221-7604-4EEC-8F68-65E712D541A8}" type="datetime1">
              <a:rPr lang="fr-BE" smtClean="0"/>
              <a:t>09/07/25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8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667" y="0"/>
            <a:ext cx="328433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52901"/>
            <a:ext cx="6080776" cy="7483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01265"/>
            <a:ext cx="5589888" cy="685800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rgbClr val="2C7F9F"/>
                </a:solidFill>
                <a:latin typeface="DM Serif Tex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2"/>
          </p:nvPr>
        </p:nvSpPr>
        <p:spPr>
          <a:xfrm>
            <a:off x="838200" y="2569945"/>
            <a:ext cx="5591478" cy="3607017"/>
          </a:xfr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buSzPct val="80000"/>
              <a:buFontTx/>
              <a:buBlip>
                <a:blip r:embed="rId3"/>
              </a:buBlip>
              <a:defRPr sz="1600">
                <a:solidFill>
                  <a:srgbClr val="1C1C1C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rgbClr val="1C1C1C"/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rgbClr val="1C1C1C"/>
                </a:solidFill>
              </a:defRPr>
            </a:lvl3pPr>
            <a:lvl4pPr>
              <a:lnSpc>
                <a:spcPct val="150000"/>
              </a:lnSpc>
              <a:defRPr sz="1100">
                <a:solidFill>
                  <a:srgbClr val="1C1C1C"/>
                </a:solidFill>
              </a:defRPr>
            </a:lvl4pPr>
            <a:lvl5pPr>
              <a:lnSpc>
                <a:spcPct val="150000"/>
              </a:lnSpc>
              <a:defRPr sz="1100">
                <a:solidFill>
                  <a:srgbClr val="1C1C1C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677" y="2387065"/>
            <a:ext cx="5251740" cy="3021025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7064375" y="2570163"/>
            <a:ext cx="3990975" cy="24844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084" y="6243683"/>
            <a:ext cx="983414" cy="386081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1762"/>
            <a:ext cx="762000" cy="1514475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838199" y="6264639"/>
            <a:ext cx="5056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1356E26-996F-433A-9CA0-83DB24D6E075}" type="slidenum">
              <a:rPr lang="en-US" sz="1100" b="0" i="0" baseline="0" smtClean="0">
                <a:solidFill>
                  <a:srgbClr val="2C7F9F"/>
                </a:solidFill>
                <a:latin typeface="DM Serif Text" pitchFamily="2" charset="0"/>
              </a:rPr>
              <a:pPr algn="l"/>
              <a:t>‹N°›</a:t>
            </a:fld>
            <a:r>
              <a:rPr lang="en-US" sz="1100" b="0" i="0" baseline="0">
                <a:solidFill>
                  <a:srgbClr val="2C7F9F"/>
                </a:solidFill>
                <a:latin typeface="DM Serif Text" pitchFamily="2" charset="0"/>
              </a:rPr>
              <a:t>.</a:t>
            </a:r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09293" y="6264639"/>
            <a:ext cx="3322055" cy="365125"/>
          </a:xfrm>
          <a:prstGeom prst="rect">
            <a:avLst/>
          </a:prstGeom>
        </p:spPr>
        <p:txBody>
          <a:bodyPr anchor="b"/>
          <a:lstStyle>
            <a:lvl1pPr algn="l">
              <a:defRPr sz="11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DM Serif Text" pitchFamily="2" charset="0"/>
              </a:defRPr>
            </a:lvl1pPr>
          </a:lstStyle>
          <a:p>
            <a:r>
              <a:rPr lang="en-US"/>
              <a:t>Standardisation in Belgium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>
          <a:xfrm>
            <a:off x="1267157" y="6264639"/>
            <a:ext cx="684888" cy="365125"/>
          </a:xfrm>
          <a:prstGeom prst="rect">
            <a:avLst/>
          </a:prstGeom>
        </p:spPr>
        <p:txBody>
          <a:bodyPr anchor="b"/>
          <a:lstStyle>
            <a:lvl1pPr>
              <a:defRPr sz="900" b="1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DM Serif Text" pitchFamily="2" charset="0"/>
              </a:defRPr>
            </a:lvl1pPr>
          </a:lstStyle>
          <a:p>
            <a:fld id="{8DABE3F8-AC8D-4D09-8A87-A1908615A712}" type="datetime1">
              <a:rPr lang="fr-BE" smtClean="0"/>
              <a:t>09/07/25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25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3768"/>
            <a:ext cx="10515600" cy="101692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572636"/>
            <a:ext cx="10256519" cy="3604326"/>
          </a:xfr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buSzPct val="80000"/>
              <a:buFontTx/>
              <a:buBlip>
                <a:blip r:embed="rId2"/>
              </a:buBlip>
              <a:defRPr sz="1600">
                <a:solidFill>
                  <a:srgbClr val="1C1C1C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rgbClr val="1C1C1C"/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rgbClr val="1C1C1C"/>
                </a:solidFill>
              </a:defRPr>
            </a:lvl3pPr>
            <a:lvl4pPr>
              <a:lnSpc>
                <a:spcPct val="150000"/>
              </a:lnSpc>
              <a:defRPr sz="1100">
                <a:solidFill>
                  <a:srgbClr val="1C1C1C"/>
                </a:solidFill>
              </a:defRPr>
            </a:lvl4pPr>
            <a:lvl5pPr>
              <a:lnSpc>
                <a:spcPct val="150000"/>
              </a:lnSpc>
              <a:defRPr sz="1100">
                <a:solidFill>
                  <a:srgbClr val="1C1C1C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2"/>
          </p:nvPr>
        </p:nvSpPr>
        <p:spPr>
          <a:xfrm>
            <a:off x="839788" y="1758249"/>
            <a:ext cx="10514012" cy="746826"/>
          </a:xfr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rgbClr val="2C7F9F"/>
                </a:solidFill>
                <a:latin typeface="DM Serif Text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084" y="6243683"/>
            <a:ext cx="983414" cy="3860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1762"/>
            <a:ext cx="762000" cy="1514475"/>
          </a:xfrm>
          <a:prstGeom prst="rect">
            <a:avLst/>
          </a:prstGeom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38199" y="6264639"/>
            <a:ext cx="5056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1356E26-996F-433A-9CA0-83DB24D6E075}" type="slidenum">
              <a:rPr lang="en-US" sz="1100" b="0" i="0" baseline="0" smtClean="0">
                <a:solidFill>
                  <a:srgbClr val="2C7F9F"/>
                </a:solidFill>
                <a:latin typeface="DM Serif Text" pitchFamily="2" charset="0"/>
              </a:rPr>
              <a:pPr algn="l"/>
              <a:t>‹N°›</a:t>
            </a:fld>
            <a:r>
              <a:rPr lang="en-US" sz="1100" b="0" i="0" baseline="0">
                <a:solidFill>
                  <a:srgbClr val="2C7F9F"/>
                </a:solidFill>
                <a:latin typeface="DM Serif Text" pitchFamily="2" charset="0"/>
              </a:rPr>
              <a:t>.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09293" y="6264639"/>
            <a:ext cx="3322055" cy="365125"/>
          </a:xfrm>
          <a:prstGeom prst="rect">
            <a:avLst/>
          </a:prstGeom>
        </p:spPr>
        <p:txBody>
          <a:bodyPr anchor="b"/>
          <a:lstStyle>
            <a:lvl1pPr algn="l">
              <a:defRPr sz="11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DM Serif Text" pitchFamily="2" charset="0"/>
              </a:defRPr>
            </a:lvl1pPr>
          </a:lstStyle>
          <a:p>
            <a:r>
              <a:rPr lang="en-US"/>
              <a:t>Standardisation in Belgium</a:t>
            </a:r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67157" y="6264639"/>
            <a:ext cx="684888" cy="365125"/>
          </a:xfrm>
          <a:prstGeom prst="rect">
            <a:avLst/>
          </a:prstGeom>
        </p:spPr>
        <p:txBody>
          <a:bodyPr anchor="b"/>
          <a:lstStyle>
            <a:lvl1pPr>
              <a:defRPr sz="900" b="1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DM Serif Text" pitchFamily="2" charset="0"/>
              </a:defRPr>
            </a:lvl1pPr>
          </a:lstStyle>
          <a:p>
            <a:fld id="{9379BB6E-2B5C-435D-B9C0-885166A701FA}" type="datetime1">
              <a:rPr lang="fr-BE" smtClean="0"/>
              <a:t>09/07/25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3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240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2">
            <a:extLst>
              <a:ext uri="{FF2B5EF4-FFF2-40B4-BE49-F238E27FC236}">
                <a16:creationId xmlns:a16="http://schemas.microsoft.com/office/drawing/2014/main" id="{3D802332-48C1-9BD0-4258-D511A9CC9A9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113" cy="6164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 hasCustomPrompt="1"/>
          </p:nvPr>
        </p:nvSpPr>
        <p:spPr>
          <a:xfrm>
            <a:off x="1617392" y="2011896"/>
            <a:ext cx="10368598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Open Sans"/>
                <a:cs typeface="Open Sans"/>
              </a:defRPr>
            </a:lvl1pPr>
          </a:lstStyle>
          <a:p>
            <a:r>
              <a:rPr lang="en-US"/>
              <a:t>Section 1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 hasCustomPrompt="1"/>
          </p:nvPr>
        </p:nvSpPr>
        <p:spPr>
          <a:xfrm>
            <a:off x="1587060" y="2626083"/>
            <a:ext cx="8538845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Section1</a:t>
            </a:r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3F188BD-B4A6-C6FF-B94E-70A90CAAF80B}"/>
              </a:ext>
            </a:extLst>
          </p:cNvPr>
          <p:cNvSpPr/>
          <p:nvPr/>
        </p:nvSpPr>
        <p:spPr>
          <a:xfrm>
            <a:off x="1587060" y="2447999"/>
            <a:ext cx="5184140" cy="0"/>
          </a:xfrm>
          <a:custGeom>
            <a:avLst/>
            <a:gdLst/>
            <a:ahLst/>
            <a:cxnLst/>
            <a:rect l="l" t="t" r="r" b="b"/>
            <a:pathLst>
              <a:path w="5184140">
                <a:moveTo>
                  <a:pt x="0" y="0"/>
                </a:moveTo>
                <a:lnTo>
                  <a:pt x="5184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3">
            <a:extLst>
              <a:ext uri="{FF2B5EF4-FFF2-40B4-BE49-F238E27FC236}">
                <a16:creationId xmlns:a16="http://schemas.microsoft.com/office/drawing/2014/main" id="{BE135312-8FE1-3B59-9FDF-16087E53879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8600" y="6316067"/>
            <a:ext cx="367030" cy="353060"/>
            <a:chOff x="232043" y="6311872"/>
            <a:chExt cx="367030" cy="353060"/>
          </a:xfrm>
        </p:grpSpPr>
        <p:pic>
          <p:nvPicPr>
            <p:cNvPr id="12" name="object 4">
              <a:extLst>
                <a:ext uri="{FF2B5EF4-FFF2-40B4-BE49-F238E27FC236}">
                  <a16:creationId xmlns:a16="http://schemas.microsoft.com/office/drawing/2014/main" id="{D483AC72-1EC6-B3F8-9171-B045654D62E7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165" y="6432114"/>
              <a:ext cx="112745" cy="112741"/>
            </a:xfrm>
            <a:prstGeom prst="rect">
              <a:avLst/>
            </a:prstGeom>
          </p:spPr>
        </p:pic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45CE16F2-2406-EB60-5198-A1BC9D1A883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2041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398" y="327253"/>
                  </a:moveTo>
                  <a:lnTo>
                    <a:pt x="157797" y="294513"/>
                  </a:lnTo>
                  <a:lnTo>
                    <a:pt x="136385" y="260680"/>
                  </a:lnTo>
                  <a:lnTo>
                    <a:pt x="135928" y="260121"/>
                  </a:lnTo>
                  <a:lnTo>
                    <a:pt x="135509" y="259537"/>
                  </a:lnTo>
                  <a:lnTo>
                    <a:pt x="135051" y="258965"/>
                  </a:lnTo>
                  <a:lnTo>
                    <a:pt x="72428" y="183743"/>
                  </a:lnTo>
                  <a:lnTo>
                    <a:pt x="52285" y="147193"/>
                  </a:lnTo>
                  <a:lnTo>
                    <a:pt x="43992" y="104394"/>
                  </a:lnTo>
                  <a:lnTo>
                    <a:pt x="49745" y="62992"/>
                  </a:lnTo>
                  <a:lnTo>
                    <a:pt x="71755" y="30619"/>
                  </a:lnTo>
                  <a:lnTo>
                    <a:pt x="72923" y="29667"/>
                  </a:lnTo>
                  <a:lnTo>
                    <a:pt x="74104" y="28752"/>
                  </a:lnTo>
                  <a:lnTo>
                    <a:pt x="75298" y="27863"/>
                  </a:lnTo>
                  <a:lnTo>
                    <a:pt x="75196" y="27736"/>
                  </a:lnTo>
                  <a:lnTo>
                    <a:pt x="44335" y="56032"/>
                  </a:lnTo>
                  <a:lnTo>
                    <a:pt x="17322" y="97307"/>
                  </a:lnTo>
                  <a:lnTo>
                    <a:pt x="2590" y="142684"/>
                  </a:lnTo>
                  <a:lnTo>
                    <a:pt x="0" y="189661"/>
                  </a:lnTo>
                  <a:lnTo>
                    <a:pt x="9334" y="235775"/>
                  </a:lnTo>
                  <a:lnTo>
                    <a:pt x="29946" y="277533"/>
                  </a:lnTo>
                  <a:lnTo>
                    <a:pt x="62407" y="314680"/>
                  </a:lnTo>
                  <a:lnTo>
                    <a:pt x="104432" y="342531"/>
                  </a:lnTo>
                  <a:lnTo>
                    <a:pt x="134112" y="352171"/>
                  </a:lnTo>
                  <a:lnTo>
                    <a:pt x="160261" y="349631"/>
                  </a:lnTo>
                  <a:lnTo>
                    <a:pt x="167398" y="327253"/>
                  </a:lnTo>
                  <a:close/>
                </a:path>
                <a:path w="367030" h="352425">
                  <a:moveTo>
                    <a:pt x="366979" y="163182"/>
                  </a:moveTo>
                  <a:lnTo>
                    <a:pt x="357682" y="117106"/>
                  </a:lnTo>
                  <a:lnTo>
                    <a:pt x="336791" y="74676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78" y="0"/>
                  </a:lnTo>
                  <a:lnTo>
                    <a:pt x="206502" y="2628"/>
                  </a:lnTo>
                  <a:lnTo>
                    <a:pt x="199364" y="25006"/>
                  </a:lnTo>
                  <a:lnTo>
                    <a:pt x="208965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77" y="205066"/>
                  </a:lnTo>
                  <a:lnTo>
                    <a:pt x="322770" y="247853"/>
                  </a:lnTo>
                  <a:lnTo>
                    <a:pt x="317017" y="289255"/>
                  </a:lnTo>
                  <a:lnTo>
                    <a:pt x="295808" y="320459"/>
                  </a:lnTo>
                  <a:lnTo>
                    <a:pt x="321652" y="297599"/>
                  </a:lnTo>
                  <a:lnTo>
                    <a:pt x="349453" y="255752"/>
                  </a:lnTo>
                  <a:lnTo>
                    <a:pt x="364286" y="210362"/>
                  </a:lnTo>
                  <a:lnTo>
                    <a:pt x="364401" y="209804"/>
                  </a:lnTo>
                  <a:lnTo>
                    <a:pt x="366979" y="163182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361B605F-2CCE-7C85-3D2D-E3627E5CDF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2041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63" y="25158"/>
                  </a:moveTo>
                  <a:lnTo>
                    <a:pt x="161378" y="2730"/>
                  </a:lnTo>
                  <a:lnTo>
                    <a:pt x="134886" y="0"/>
                  </a:lnTo>
                  <a:lnTo>
                    <a:pt x="108254" y="8674"/>
                  </a:lnTo>
                  <a:lnTo>
                    <a:pt x="74193" y="28587"/>
                  </a:lnTo>
                  <a:lnTo>
                    <a:pt x="45262" y="55422"/>
                  </a:lnTo>
                  <a:lnTo>
                    <a:pt x="17322" y="97561"/>
                  </a:lnTo>
                  <a:lnTo>
                    <a:pt x="2590" y="142938"/>
                  </a:lnTo>
                  <a:lnTo>
                    <a:pt x="0" y="189915"/>
                  </a:lnTo>
                  <a:lnTo>
                    <a:pt x="9169" y="235178"/>
                  </a:lnTo>
                  <a:lnTo>
                    <a:pt x="30441" y="278803"/>
                  </a:lnTo>
                  <a:lnTo>
                    <a:pt x="62420" y="314960"/>
                  </a:lnTo>
                  <a:lnTo>
                    <a:pt x="70383" y="320509"/>
                  </a:lnTo>
                  <a:lnTo>
                    <a:pt x="49034" y="288658"/>
                  </a:lnTo>
                  <a:lnTo>
                    <a:pt x="43535" y="247218"/>
                  </a:lnTo>
                  <a:lnTo>
                    <a:pt x="52095" y="204482"/>
                  </a:lnTo>
                  <a:lnTo>
                    <a:pt x="72466" y="168059"/>
                  </a:lnTo>
                  <a:lnTo>
                    <a:pt x="136042" y="92684"/>
                  </a:lnTo>
                  <a:lnTo>
                    <a:pt x="136461" y="92100"/>
                  </a:lnTo>
                  <a:lnTo>
                    <a:pt x="136918" y="91541"/>
                  </a:lnTo>
                  <a:lnTo>
                    <a:pt x="158559" y="57835"/>
                  </a:lnTo>
                  <a:lnTo>
                    <a:pt x="168363" y="25158"/>
                  </a:lnTo>
                  <a:close/>
                </a:path>
                <a:path w="367030" h="353059">
                  <a:moveTo>
                    <a:pt x="366991" y="163309"/>
                  </a:moveTo>
                  <a:lnTo>
                    <a:pt x="357860" y="118287"/>
                  </a:lnTo>
                  <a:lnTo>
                    <a:pt x="336537" y="74422"/>
                  </a:lnTo>
                  <a:lnTo>
                    <a:pt x="303834" y="37465"/>
                  </a:lnTo>
                  <a:lnTo>
                    <a:pt x="296176" y="31965"/>
                  </a:lnTo>
                  <a:lnTo>
                    <a:pt x="317728" y="64109"/>
                  </a:lnTo>
                  <a:lnTo>
                    <a:pt x="323227" y="105549"/>
                  </a:lnTo>
                  <a:lnTo>
                    <a:pt x="314655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03" y="294932"/>
                  </a:lnTo>
                  <a:lnTo>
                    <a:pt x="198399" y="327596"/>
                  </a:lnTo>
                  <a:lnTo>
                    <a:pt x="205384" y="350024"/>
                  </a:lnTo>
                  <a:lnTo>
                    <a:pt x="232676" y="352844"/>
                  </a:lnTo>
                  <a:lnTo>
                    <a:pt x="237540" y="351853"/>
                  </a:lnTo>
                  <a:lnTo>
                    <a:pt x="285305" y="329844"/>
                  </a:lnTo>
                  <a:lnTo>
                    <a:pt x="317474" y="301548"/>
                  </a:lnTo>
                  <a:lnTo>
                    <a:pt x="348564" y="257365"/>
                  </a:lnTo>
                  <a:lnTo>
                    <a:pt x="364083" y="211264"/>
                  </a:lnTo>
                  <a:lnTo>
                    <a:pt x="364451" y="209257"/>
                  </a:lnTo>
                  <a:lnTo>
                    <a:pt x="366991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8">
            <a:extLst>
              <a:ext uri="{FF2B5EF4-FFF2-40B4-BE49-F238E27FC236}">
                <a16:creationId xmlns:a16="http://schemas.microsoft.com/office/drawing/2014/main" id="{12C3A697-E412-F22A-769E-7763EA1597E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599976" y="6338934"/>
            <a:ext cx="412140" cy="304625"/>
          </a:xfrm>
          <a:prstGeom prst="rect">
            <a:avLst/>
          </a:prstGeom>
        </p:spPr>
      </p:pic>
      <p:pic>
        <p:nvPicPr>
          <p:cNvPr id="6" name="object 7">
            <a:extLst>
              <a:ext uri="{FF2B5EF4-FFF2-40B4-BE49-F238E27FC236}">
                <a16:creationId xmlns:a16="http://schemas.microsoft.com/office/drawing/2014/main" id="{61394A45-51C9-A657-4442-3B3390EDD066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151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457200" y="0"/>
            <a:ext cx="2526029" cy="391159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 i="0">
                <a:solidFill>
                  <a:schemeClr val="bg1"/>
                </a:solidFill>
                <a:latin typeface="Open Sans"/>
                <a:cs typeface="Open Sans"/>
              </a:defRPr>
            </a:lvl1pPr>
          </a:lstStyle>
          <a:p>
            <a:r>
              <a:rPr lang="en-US"/>
              <a:t>Title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7525F-7521-68A9-4B87-E92F0E553C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nl-BE" smtClean="0"/>
              <a:t>‹N°›</a:t>
            </a:fld>
            <a:endParaRPr lang="nl-BE"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B9EB2F9A-D68E-7FB7-154F-81F913133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3927931E-2A4F-A665-80F4-2167764E9128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275803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891892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76B07-81EE-EE4D-14D4-E22F39220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AAA227-75A7-31DB-7A95-EDE77DF4B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D70C4-6198-20B9-9E18-90FF1DBE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A55D3-3908-473F-AE77-60FB45E1304F}" type="datetimeFigureOut">
              <a:rPr lang="fr-BE" smtClean="0"/>
              <a:t>09/07/25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06653-ED46-C949-FC40-8388AFC0B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704BF-2D84-3665-6AD0-14F1E238B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ECE7-4023-463D-AE57-6B2A0A2FE322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612626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avec coin arrondi 20"/>
          <p:cNvSpPr/>
          <p:nvPr userDrawn="1"/>
        </p:nvSpPr>
        <p:spPr>
          <a:xfrm>
            <a:off x="-7500" y="6457949"/>
            <a:ext cx="576000" cy="414907"/>
          </a:xfrm>
          <a:prstGeom prst="round1Rect">
            <a:avLst/>
          </a:prstGeom>
          <a:gradFill flip="none" rotWithShape="1">
            <a:gsLst>
              <a:gs pos="0">
                <a:srgbClr val="16AEE3"/>
              </a:gs>
              <a:gs pos="100000">
                <a:srgbClr val="12AAD9"/>
              </a:gs>
            </a:gsLst>
            <a:lin ang="0" scaled="1"/>
            <a:tileRect/>
          </a:gra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Rectangle avec coin arrondi 19"/>
          <p:cNvSpPr/>
          <p:nvPr userDrawn="1"/>
        </p:nvSpPr>
        <p:spPr>
          <a:xfrm flipH="1">
            <a:off x="11620500" y="6446232"/>
            <a:ext cx="576000" cy="414907"/>
          </a:xfrm>
          <a:prstGeom prst="round1Rect">
            <a:avLst/>
          </a:prstGeom>
          <a:gradFill flip="none" rotWithShape="1">
            <a:gsLst>
              <a:gs pos="0">
                <a:srgbClr val="FCFCF3"/>
              </a:gs>
              <a:gs pos="100000">
                <a:schemeClr val="bg1"/>
              </a:gs>
            </a:gsLst>
            <a:lin ang="0" scaled="1"/>
            <a:tileRect/>
          </a:gra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9600" y="239995"/>
            <a:ext cx="10972800" cy="49550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5761040"/>
            <a:ext cx="2743200" cy="365125"/>
          </a:xfrm>
          <a:prstGeom prst="rect">
            <a:avLst/>
          </a:prstGeom>
        </p:spPr>
        <p:txBody>
          <a:bodyPr/>
          <a:lstStyle/>
          <a:p>
            <a:fld id="{9687A47D-EEF9-40EA-9EDD-A591B0FB9BC9}" type="datetime1">
              <a:rPr lang="fr-BE" smtClean="0"/>
              <a:t>09/07/25</a:t>
            </a:fld>
            <a:endParaRPr lang="fr-BE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576104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B84E1A-3C5A-4ADD-88AA-0A85ABC19467}"/>
              </a:ext>
            </a:extLst>
          </p:cNvPr>
          <p:cNvSpPr/>
          <p:nvPr userDrawn="1"/>
        </p:nvSpPr>
        <p:spPr>
          <a:xfrm rot="10800000" flipH="1">
            <a:off x="2228" y="6620328"/>
            <a:ext cx="12194272" cy="252000"/>
          </a:xfrm>
          <a:prstGeom prst="rect">
            <a:avLst/>
          </a:prstGeom>
          <a:gradFill flip="none" rotWithShape="1">
            <a:gsLst>
              <a:gs pos="47000">
                <a:srgbClr val="C2CD23"/>
              </a:gs>
              <a:gs pos="2000">
                <a:schemeClr val="bg1"/>
              </a:gs>
              <a:gs pos="100000">
                <a:srgbClr val="17AEE4"/>
              </a:gs>
              <a:gs pos="81000">
                <a:srgbClr val="009DB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BE" sz="2000"/>
          </a:p>
        </p:txBody>
      </p:sp>
      <p:sp>
        <p:nvSpPr>
          <p:cNvPr id="26" name="Espace réservé du numéro de diapositive 15"/>
          <p:cNvSpPr txBox="1">
            <a:spLocks/>
          </p:cNvSpPr>
          <p:nvPr userDrawn="1"/>
        </p:nvSpPr>
        <p:spPr>
          <a:xfrm>
            <a:off x="11620500" y="6515497"/>
            <a:ext cx="556587" cy="299812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EF169F6-B930-4E69-A52C-2C36340E9BE2}" type="slidenum">
              <a:rPr lang="fr-BE" sz="1800" smtClean="0">
                <a:solidFill>
                  <a:schemeClr val="bg1">
                    <a:lumMod val="65000"/>
                  </a:schemeClr>
                </a:solidFill>
              </a:rPr>
              <a:pPr algn="ctr"/>
              <a:t>‹N°›</a:t>
            </a:fld>
            <a:endParaRPr lang="fr-BE" sz="180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7" name="Connecteur droit 2"/>
          <p:cNvCxnSpPr/>
          <p:nvPr userDrawn="1"/>
        </p:nvCxnSpPr>
        <p:spPr>
          <a:xfrm>
            <a:off x="568500" y="6612717"/>
            <a:ext cx="11052000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7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82" y="128172"/>
            <a:ext cx="666709" cy="2880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8" r="66655" b="1"/>
          <a:stretch/>
        </p:blipFill>
        <p:spPr>
          <a:xfrm>
            <a:off x="11699692" y="128172"/>
            <a:ext cx="398201" cy="31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89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25E5231-0019-24D2-F969-F0E1DBFB1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BE"/>
              <a:t>Klik om stijl te bewerken</a:t>
            </a:r>
            <a:endParaRPr lang="nl-BE" altLang="nl-BE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3E67DE5-4A5A-827E-863D-788B5315E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BE"/>
              <a:t>Klikken om de tekststijl van het model te bewerken</a:t>
            </a:r>
          </a:p>
          <a:p>
            <a:pPr lvl="1"/>
            <a:r>
              <a:rPr lang="nl-NL" altLang="nl-BE"/>
              <a:t>Tweede niveau</a:t>
            </a:r>
          </a:p>
          <a:p>
            <a:pPr lvl="2"/>
            <a:r>
              <a:rPr lang="nl-NL" altLang="nl-BE"/>
              <a:t>Derde niveau</a:t>
            </a:r>
          </a:p>
          <a:p>
            <a:pPr lvl="3"/>
            <a:r>
              <a:rPr lang="nl-NL" altLang="nl-BE"/>
              <a:t>Vierde niveau</a:t>
            </a:r>
          </a:p>
          <a:p>
            <a:pPr lvl="4"/>
            <a:r>
              <a:rPr lang="nl-NL" altLang="nl-BE"/>
              <a:t>Vijfde niveau</a:t>
            </a:r>
            <a:endParaRPr lang="nl-BE" altLang="nl-BE"/>
          </a:p>
        </p:txBody>
      </p:sp>
      <p:pic>
        <p:nvPicPr>
          <p:cNvPr id="1028" name="object 8">
            <a:extLst>
              <a:ext uri="{FF2B5EF4-FFF2-40B4-BE49-F238E27FC236}">
                <a16:creationId xmlns:a16="http://schemas.microsoft.com/office/drawing/2014/main" id="{B1BEEABA-3E24-3368-D7E6-0A86DDFBC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0"/>
            <a:ext cx="9390062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9" name="object 2">
            <a:extLst>
              <a:ext uri="{FF2B5EF4-FFF2-40B4-BE49-F238E27FC236}">
                <a16:creationId xmlns:a16="http://schemas.microsoft.com/office/drawing/2014/main" id="{E44969BC-A7EB-EF17-B2FA-70CC43B5A080}"/>
              </a:ext>
            </a:extLst>
          </p:cNvPr>
          <p:cNvGrpSpPr>
            <a:grpSpLocks/>
          </p:cNvGrpSpPr>
          <p:nvPr/>
        </p:nvGrpSpPr>
        <p:grpSpPr bwMode="auto">
          <a:xfrm>
            <a:off x="234950" y="6311900"/>
            <a:ext cx="366713" cy="352425"/>
            <a:chOff x="235008" y="6311872"/>
            <a:chExt cx="367030" cy="353060"/>
          </a:xfrm>
        </p:grpSpPr>
        <p:pic>
          <p:nvPicPr>
            <p:cNvPr id="1033" name="object 3">
              <a:extLst>
                <a:ext uri="{FF2B5EF4-FFF2-40B4-BE49-F238E27FC236}">
                  <a16:creationId xmlns:a16="http://schemas.microsoft.com/office/drawing/2014/main" id="{83D773D3-2FD0-94CB-08B0-C29787F308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136" y="6432114"/>
              <a:ext cx="112745" cy="112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" name="object 4">
              <a:extLst>
                <a:ext uri="{FF2B5EF4-FFF2-40B4-BE49-F238E27FC236}">
                  <a16:creationId xmlns:a16="http://schemas.microsoft.com/office/drawing/2014/main" id="{C9F44679-D4C4-3F80-1470-596B263A5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000" y="6312128"/>
              <a:ext cx="367030" cy="352425"/>
            </a:xfrm>
            <a:custGeom>
              <a:avLst/>
              <a:gdLst>
                <a:gd name="T0" fmla="*/ 167411 w 367030"/>
                <a:gd name="T1" fmla="*/ 327253 h 352425"/>
                <a:gd name="T2" fmla="*/ 157810 w 367030"/>
                <a:gd name="T3" fmla="*/ 294513 h 352425"/>
                <a:gd name="T4" fmla="*/ 136398 w 367030"/>
                <a:gd name="T5" fmla="*/ 260680 h 352425"/>
                <a:gd name="T6" fmla="*/ 135940 w 367030"/>
                <a:gd name="T7" fmla="*/ 260121 h 352425"/>
                <a:gd name="T8" fmla="*/ 135521 w 367030"/>
                <a:gd name="T9" fmla="*/ 259537 h 352425"/>
                <a:gd name="T10" fmla="*/ 135064 w 367030"/>
                <a:gd name="T11" fmla="*/ 258965 h 352425"/>
                <a:gd name="T12" fmla="*/ 72440 w 367030"/>
                <a:gd name="T13" fmla="*/ 183743 h 352425"/>
                <a:gd name="T14" fmla="*/ 52298 w 367030"/>
                <a:gd name="T15" fmla="*/ 147193 h 352425"/>
                <a:gd name="T16" fmla="*/ 43992 w 367030"/>
                <a:gd name="T17" fmla="*/ 104394 h 352425"/>
                <a:gd name="T18" fmla="*/ 49758 w 367030"/>
                <a:gd name="T19" fmla="*/ 62992 h 352425"/>
                <a:gd name="T20" fmla="*/ 71767 w 367030"/>
                <a:gd name="T21" fmla="*/ 30619 h 352425"/>
                <a:gd name="T22" fmla="*/ 72936 w 367030"/>
                <a:gd name="T23" fmla="*/ 29667 h 352425"/>
                <a:gd name="T24" fmla="*/ 74117 w 367030"/>
                <a:gd name="T25" fmla="*/ 28752 h 352425"/>
                <a:gd name="T26" fmla="*/ 75311 w 367030"/>
                <a:gd name="T27" fmla="*/ 27863 h 352425"/>
                <a:gd name="T28" fmla="*/ 75209 w 367030"/>
                <a:gd name="T29" fmla="*/ 27736 h 352425"/>
                <a:gd name="T30" fmla="*/ 44348 w 367030"/>
                <a:gd name="T31" fmla="*/ 56032 h 352425"/>
                <a:gd name="T32" fmla="*/ 17322 w 367030"/>
                <a:gd name="T33" fmla="*/ 97307 h 352425"/>
                <a:gd name="T34" fmla="*/ 2603 w 367030"/>
                <a:gd name="T35" fmla="*/ 142684 h 352425"/>
                <a:gd name="T36" fmla="*/ 0 w 367030"/>
                <a:gd name="T37" fmla="*/ 189661 h 352425"/>
                <a:gd name="T38" fmla="*/ 9347 w 367030"/>
                <a:gd name="T39" fmla="*/ 235775 h 352425"/>
                <a:gd name="T40" fmla="*/ 29959 w 367030"/>
                <a:gd name="T41" fmla="*/ 277533 h 352425"/>
                <a:gd name="T42" fmla="*/ 62420 w 367030"/>
                <a:gd name="T43" fmla="*/ 314680 h 352425"/>
                <a:gd name="T44" fmla="*/ 104444 w 367030"/>
                <a:gd name="T45" fmla="*/ 342531 h 352425"/>
                <a:gd name="T46" fmla="*/ 134112 w 367030"/>
                <a:gd name="T47" fmla="*/ 352171 h 352425"/>
                <a:gd name="T48" fmla="*/ 160274 w 367030"/>
                <a:gd name="T49" fmla="*/ 349631 h 352425"/>
                <a:gd name="T50" fmla="*/ 167411 w 367030"/>
                <a:gd name="T51" fmla="*/ 327253 h 352425"/>
                <a:gd name="T52" fmla="*/ 366991 w 367030"/>
                <a:gd name="T53" fmla="*/ 163195 h 352425"/>
                <a:gd name="T54" fmla="*/ 357695 w 367030"/>
                <a:gd name="T55" fmla="*/ 117119 h 352425"/>
                <a:gd name="T56" fmla="*/ 336804 w 367030"/>
                <a:gd name="T57" fmla="*/ 74688 h 352425"/>
                <a:gd name="T58" fmla="*/ 303847 w 367030"/>
                <a:gd name="T59" fmla="*/ 37198 h 352425"/>
                <a:gd name="T60" fmla="*/ 248678 w 367030"/>
                <a:gd name="T61" fmla="*/ 4457 h 352425"/>
                <a:gd name="T62" fmla="*/ 233591 w 367030"/>
                <a:gd name="T63" fmla="*/ 0 h 352425"/>
                <a:gd name="T64" fmla="*/ 206514 w 367030"/>
                <a:gd name="T65" fmla="*/ 2616 h 352425"/>
                <a:gd name="T66" fmla="*/ 199377 w 367030"/>
                <a:gd name="T67" fmla="*/ 25006 h 352425"/>
                <a:gd name="T68" fmla="*/ 208978 w 367030"/>
                <a:gd name="T69" fmla="*/ 57734 h 352425"/>
                <a:gd name="T70" fmla="*/ 230390 w 367030"/>
                <a:gd name="T71" fmla="*/ 91579 h 352425"/>
                <a:gd name="T72" fmla="*/ 230835 w 367030"/>
                <a:gd name="T73" fmla="*/ 92138 h 352425"/>
                <a:gd name="T74" fmla="*/ 231254 w 367030"/>
                <a:gd name="T75" fmla="*/ 92722 h 352425"/>
                <a:gd name="T76" fmla="*/ 231711 w 367030"/>
                <a:gd name="T77" fmla="*/ 93294 h 352425"/>
                <a:gd name="T78" fmla="*/ 294335 w 367030"/>
                <a:gd name="T79" fmla="*/ 168516 h 352425"/>
                <a:gd name="T80" fmla="*/ 314490 w 367030"/>
                <a:gd name="T81" fmla="*/ 205066 h 352425"/>
                <a:gd name="T82" fmla="*/ 322783 w 367030"/>
                <a:gd name="T83" fmla="*/ 247853 h 352425"/>
                <a:gd name="T84" fmla="*/ 317030 w 367030"/>
                <a:gd name="T85" fmla="*/ 289255 h 352425"/>
                <a:gd name="T86" fmla="*/ 295821 w 367030"/>
                <a:gd name="T87" fmla="*/ 320459 h 352425"/>
                <a:gd name="T88" fmla="*/ 321665 w 367030"/>
                <a:gd name="T89" fmla="*/ 297599 h 352425"/>
                <a:gd name="T90" fmla="*/ 349465 w 367030"/>
                <a:gd name="T91" fmla="*/ 255765 h 352425"/>
                <a:gd name="T92" fmla="*/ 364299 w 367030"/>
                <a:gd name="T93" fmla="*/ 210362 h 352425"/>
                <a:gd name="T94" fmla="*/ 364413 w 367030"/>
                <a:gd name="T95" fmla="*/ 209804 h 352425"/>
                <a:gd name="T96" fmla="*/ 366991 w 367030"/>
                <a:gd name="T97" fmla="*/ 163195 h 352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nl-BE"/>
            </a:p>
          </p:txBody>
        </p:sp>
        <p:sp>
          <p:nvSpPr>
            <p:cNvPr id="1035" name="object 5">
              <a:extLst>
                <a:ext uri="{FF2B5EF4-FFF2-40B4-BE49-F238E27FC236}">
                  <a16:creationId xmlns:a16="http://schemas.microsoft.com/office/drawing/2014/main" id="{A3F95084-5604-3D5E-F3CD-1760D1512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000" y="6311874"/>
              <a:ext cx="367030" cy="353060"/>
            </a:xfrm>
            <a:custGeom>
              <a:avLst/>
              <a:gdLst>
                <a:gd name="T0" fmla="*/ 168376 w 367030"/>
                <a:gd name="T1" fmla="*/ 25158 h 353059"/>
                <a:gd name="T2" fmla="*/ 161378 w 367030"/>
                <a:gd name="T3" fmla="*/ 2730 h 353059"/>
                <a:gd name="T4" fmla="*/ 134899 w 367030"/>
                <a:gd name="T5" fmla="*/ 0 h 353059"/>
                <a:gd name="T6" fmla="*/ 108267 w 367030"/>
                <a:gd name="T7" fmla="*/ 8674 h 353059"/>
                <a:gd name="T8" fmla="*/ 74193 w 367030"/>
                <a:gd name="T9" fmla="*/ 28587 h 353059"/>
                <a:gd name="T10" fmla="*/ 45364 w 367030"/>
                <a:gd name="T11" fmla="*/ 55333 h 353059"/>
                <a:gd name="T12" fmla="*/ 17322 w 367030"/>
                <a:gd name="T13" fmla="*/ 97561 h 353059"/>
                <a:gd name="T14" fmla="*/ 2603 w 367030"/>
                <a:gd name="T15" fmla="*/ 142938 h 353059"/>
                <a:gd name="T16" fmla="*/ 0 w 367030"/>
                <a:gd name="T17" fmla="*/ 189915 h 353059"/>
                <a:gd name="T18" fmla="*/ 9169 w 367030"/>
                <a:gd name="T19" fmla="*/ 235165 h 353059"/>
                <a:gd name="T20" fmla="*/ 30454 w 367030"/>
                <a:gd name="T21" fmla="*/ 278803 h 353059"/>
                <a:gd name="T22" fmla="*/ 62445 w 367030"/>
                <a:gd name="T23" fmla="*/ 314960 h 353059"/>
                <a:gd name="T24" fmla="*/ 70396 w 367030"/>
                <a:gd name="T25" fmla="*/ 320509 h 353059"/>
                <a:gd name="T26" fmla="*/ 49034 w 367030"/>
                <a:gd name="T27" fmla="*/ 288658 h 353059"/>
                <a:gd name="T28" fmla="*/ 43548 w 367030"/>
                <a:gd name="T29" fmla="*/ 247218 h 353059"/>
                <a:gd name="T30" fmla="*/ 52108 w 367030"/>
                <a:gd name="T31" fmla="*/ 204482 h 353059"/>
                <a:gd name="T32" fmla="*/ 72478 w 367030"/>
                <a:gd name="T33" fmla="*/ 168059 h 353059"/>
                <a:gd name="T34" fmla="*/ 136055 w 367030"/>
                <a:gd name="T35" fmla="*/ 92684 h 353059"/>
                <a:gd name="T36" fmla="*/ 136474 w 367030"/>
                <a:gd name="T37" fmla="*/ 92100 h 353059"/>
                <a:gd name="T38" fmla="*/ 136931 w 367030"/>
                <a:gd name="T39" fmla="*/ 91541 h 353059"/>
                <a:gd name="T40" fmla="*/ 158559 w 367030"/>
                <a:gd name="T41" fmla="*/ 57835 h 353059"/>
                <a:gd name="T42" fmla="*/ 168376 w 367030"/>
                <a:gd name="T43" fmla="*/ 25158 h 353059"/>
                <a:gd name="T44" fmla="*/ 367004 w 367030"/>
                <a:gd name="T45" fmla="*/ 163309 h 353059"/>
                <a:gd name="T46" fmla="*/ 357873 w 367030"/>
                <a:gd name="T47" fmla="*/ 118300 h 353059"/>
                <a:gd name="T48" fmla="*/ 336550 w 367030"/>
                <a:gd name="T49" fmla="*/ 74422 h 353059"/>
                <a:gd name="T50" fmla="*/ 303860 w 367030"/>
                <a:gd name="T51" fmla="*/ 37465 h 353059"/>
                <a:gd name="T52" fmla="*/ 296189 w 367030"/>
                <a:gd name="T53" fmla="*/ 31965 h 353059"/>
                <a:gd name="T54" fmla="*/ 317741 w 367030"/>
                <a:gd name="T55" fmla="*/ 64109 h 353059"/>
                <a:gd name="T56" fmla="*/ 323240 w 367030"/>
                <a:gd name="T57" fmla="*/ 105549 h 353059"/>
                <a:gd name="T58" fmla="*/ 314667 w 367030"/>
                <a:gd name="T59" fmla="*/ 148285 h 353059"/>
                <a:gd name="T60" fmla="*/ 294297 w 367030"/>
                <a:gd name="T61" fmla="*/ 184708 h 353059"/>
                <a:gd name="T62" fmla="*/ 230720 w 367030"/>
                <a:gd name="T63" fmla="*/ 260083 h 353059"/>
                <a:gd name="T64" fmla="*/ 230301 w 367030"/>
                <a:gd name="T65" fmla="*/ 260667 h 353059"/>
                <a:gd name="T66" fmla="*/ 229844 w 367030"/>
                <a:gd name="T67" fmla="*/ 261226 h 353059"/>
                <a:gd name="T68" fmla="*/ 208216 w 367030"/>
                <a:gd name="T69" fmla="*/ 294932 h 353059"/>
                <a:gd name="T70" fmla="*/ 198412 w 367030"/>
                <a:gd name="T71" fmla="*/ 327596 h 353059"/>
                <a:gd name="T72" fmla="*/ 205397 w 367030"/>
                <a:gd name="T73" fmla="*/ 350024 h 353059"/>
                <a:gd name="T74" fmla="*/ 232676 w 367030"/>
                <a:gd name="T75" fmla="*/ 352844 h 353059"/>
                <a:gd name="T76" fmla="*/ 237553 w 367030"/>
                <a:gd name="T77" fmla="*/ 351853 h 353059"/>
                <a:gd name="T78" fmla="*/ 285318 w 367030"/>
                <a:gd name="T79" fmla="*/ 329844 h 353059"/>
                <a:gd name="T80" fmla="*/ 317474 w 367030"/>
                <a:gd name="T81" fmla="*/ 301548 h 353059"/>
                <a:gd name="T82" fmla="*/ 348576 w 367030"/>
                <a:gd name="T83" fmla="*/ 257378 h 353059"/>
                <a:gd name="T84" fmla="*/ 364083 w 367030"/>
                <a:gd name="T85" fmla="*/ 211277 h 353059"/>
                <a:gd name="T86" fmla="*/ 364464 w 367030"/>
                <a:gd name="T87" fmla="*/ 209245 h 353059"/>
                <a:gd name="T88" fmla="*/ 367004 w 367030"/>
                <a:gd name="T89" fmla="*/ 163309 h 353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nl-BE"/>
            </a:p>
          </p:txBody>
        </p:sp>
      </p:grpSp>
      <p:pic>
        <p:nvPicPr>
          <p:cNvPr id="1030" name="object 7">
            <a:extLst>
              <a:ext uri="{FF2B5EF4-FFF2-40B4-BE49-F238E27FC236}">
                <a16:creationId xmlns:a16="http://schemas.microsoft.com/office/drawing/2014/main" id="{3013F0A4-C2A4-AC96-357C-726ADCE9C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3038" y="6338888"/>
            <a:ext cx="412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DC13BD2-51FD-92CA-6893-FFD5D49E5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3038" y="-14288"/>
            <a:ext cx="523875" cy="365126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b="1" smtClean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defRPr/>
            </a:pPr>
            <a:fld id="{9E0153C5-FBCA-4FDB-A810-3625F8865661}" type="slidenum">
              <a:rPr lang="nl-BE"/>
              <a:pPr>
                <a:defRPr/>
              </a:pPr>
              <a:t>‹N°›</a:t>
            </a:fld>
            <a:endParaRPr lang="nl-BE"/>
          </a:p>
        </p:txBody>
      </p:sp>
      <p:pic>
        <p:nvPicPr>
          <p:cNvPr id="1032" name="object 6">
            <a:extLst>
              <a:ext uri="{FF2B5EF4-FFF2-40B4-BE49-F238E27FC236}">
                <a16:creationId xmlns:a16="http://schemas.microsoft.com/office/drawing/2014/main" id="{B19FB640-A423-C934-43E5-DB311B15C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5" y="6380163"/>
            <a:ext cx="1082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66" r:id="rId2"/>
    <p:sldLayoutId id="2147483703" r:id="rId3"/>
    <p:sldLayoutId id="2147483698" r:id="rId4"/>
    <p:sldLayoutId id="2147483699" r:id="rId5"/>
    <p:sldLayoutId id="2147483700" r:id="rId6"/>
    <p:sldLayoutId id="2147483701" r:id="rId7"/>
    <p:sldLayoutId id="2147483674" r:id="rId8"/>
    <p:sldLayoutId id="2147483676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5" r:id="rId19"/>
    <p:sldLayoutId id="2147483696" r:id="rId20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A81D7"/>
          </a:solidFill>
          <a:latin typeface="Open Sans" pitchFamily="2" charset="0"/>
          <a:cs typeface="Open Sans" pitchFamily="2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A81D7"/>
          </a:solidFill>
          <a:latin typeface="Open Sans" pitchFamily="2" charset="0"/>
          <a:cs typeface="Open Sans" pitchFamily="2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A81D7"/>
          </a:solidFill>
          <a:latin typeface="Open Sans" pitchFamily="2" charset="0"/>
          <a:cs typeface="Open Sans" pitchFamily="2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A81D7"/>
          </a:solidFill>
          <a:latin typeface="Open Sans" pitchFamily="2" charset="0"/>
          <a:cs typeface="Open Sans" pitchFamily="2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A81D7"/>
          </a:solidFill>
          <a:latin typeface="Open Sans" pitchFamily="2" charset="0"/>
          <a:cs typeface="Open Sans" pitchFamily="2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A81D7"/>
          </a:solidFill>
          <a:latin typeface="Open Sans" pitchFamily="2" charset="0"/>
          <a:cs typeface="Open Sans" pitchFamily="2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A81D7"/>
          </a:solidFill>
          <a:latin typeface="Open Sans" pitchFamily="2" charset="0"/>
          <a:cs typeface="Open Sans" pitchFamily="2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A81D7"/>
          </a:solidFill>
          <a:latin typeface="Open Sans" pitchFamily="2" charset="0"/>
          <a:cs typeface="Open Sans" pitchFamily="2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0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59261776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8_A20A7C1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2B5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7B30F39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5926177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8_A20A7C1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2B5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7B30F39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5926177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8_A20A7C1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2B5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7B30F39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696B567-7B7C-C85F-B738-F91CF7427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000" y="970907"/>
            <a:ext cx="8656638" cy="742950"/>
          </a:xfrm>
        </p:spPr>
        <p:txBody>
          <a:bodyPr/>
          <a:lstStyle/>
          <a:p>
            <a:r>
              <a:rPr lang="nl-BE" altLang="nl-BE" dirty="0" err="1" smtClean="0">
                <a:latin typeface="Open Sans"/>
                <a:ea typeface="Open Sans"/>
                <a:cs typeface="Open Sans"/>
              </a:rPr>
              <a:t>QualiFHIR</a:t>
            </a:r>
            <a:r>
              <a:rPr lang="nl-BE" altLang="nl-BE" dirty="0" smtClean="0">
                <a:latin typeface="Open Sans"/>
                <a:ea typeface="Open Sans"/>
                <a:cs typeface="Open Sans"/>
              </a:rPr>
              <a:t> </a:t>
            </a:r>
            <a:endParaRPr lang="nl-BE" altLang="nl-BE" dirty="0">
              <a:latin typeface="Open Sans"/>
              <a:ea typeface="Open Sans"/>
              <a:cs typeface="Open Sans"/>
            </a:endParaRPr>
          </a:p>
        </p:txBody>
      </p:sp>
      <p:sp>
        <p:nvSpPr>
          <p:cNvPr id="6147" name="Text Placeholder 2">
            <a:extLst>
              <a:ext uri="{FF2B5EF4-FFF2-40B4-BE49-F238E27FC236}">
                <a16:creationId xmlns:a16="http://schemas.microsoft.com/office/drawing/2014/main" id="{B520A98B-22DF-C0CD-EFA4-87D658FC1A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755775"/>
            <a:ext cx="8659813" cy="1222375"/>
          </a:xfrm>
        </p:spPr>
        <p:txBody>
          <a:bodyPr/>
          <a:lstStyle/>
          <a:p>
            <a:endParaRPr lang="nl-BE" altLang="nl-BE" dirty="0"/>
          </a:p>
          <a:p>
            <a:endParaRPr lang="nl-BE" altLang="nl-BE" dirty="0">
              <a:latin typeface="Open Sans"/>
              <a:ea typeface="Open Sans"/>
              <a:cs typeface="Open Sans"/>
            </a:endParaRPr>
          </a:p>
          <a:p>
            <a:r>
              <a:rPr lang="nl-BE" altLang="nl-BE" dirty="0">
                <a:latin typeface="Open Sans"/>
                <a:ea typeface="Open Sans"/>
                <a:cs typeface="Open Sans"/>
              </a:rPr>
              <a:t>Scenario's FHIR-a-</a:t>
            </a:r>
            <a:r>
              <a:rPr lang="nl-BE" altLang="nl-BE" dirty="0" err="1">
                <a:latin typeface="Open Sans"/>
                <a:ea typeface="Open Sans"/>
                <a:cs typeface="Open Sans"/>
              </a:rPr>
              <a:t>thon</a:t>
            </a:r>
            <a:r>
              <a:rPr lang="nl-BE" altLang="nl-BE" dirty="0">
                <a:latin typeface="Open Sans"/>
                <a:ea typeface="Open Sans"/>
                <a:cs typeface="Open Sans"/>
              </a:rPr>
              <a:t> 2025</a:t>
            </a:r>
            <a:endParaRPr lang="nl-BE" altLang="nl-BE" dirty="0"/>
          </a:p>
          <a:p>
            <a:endParaRPr lang="nl-BE" altLang="nl-BE" dirty="0"/>
          </a:p>
        </p:txBody>
      </p:sp>
      <p:sp>
        <p:nvSpPr>
          <p:cNvPr id="2" name="ZoneTexte 1"/>
          <p:cNvSpPr txBox="1"/>
          <p:nvPr/>
        </p:nvSpPr>
        <p:spPr>
          <a:xfrm>
            <a:off x="4986338" y="4693445"/>
            <a:ext cx="30945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smtClean="0">
                <a:solidFill>
                  <a:schemeClr val="bg1"/>
                </a:solidFill>
              </a:rPr>
              <a:t>Grand Hôpital de Charleroi</a:t>
            </a:r>
          </a:p>
          <a:p>
            <a:r>
              <a:rPr lang="fr-BE" dirty="0" smtClean="0">
                <a:solidFill>
                  <a:schemeClr val="bg1"/>
                </a:solidFill>
              </a:rPr>
              <a:t>DTSI-IT : Ir Pierre </a:t>
            </a:r>
            <a:r>
              <a:rPr lang="fr-BE" dirty="0" err="1" smtClean="0">
                <a:solidFill>
                  <a:schemeClr val="bg1"/>
                </a:solidFill>
              </a:rPr>
              <a:t>Jacmin</a:t>
            </a:r>
            <a:endParaRPr lang="fr-BE" dirty="0" smtClean="0">
              <a:solidFill>
                <a:schemeClr val="bg1"/>
              </a:solidFill>
            </a:endParaRPr>
          </a:p>
          <a:p>
            <a:r>
              <a:rPr lang="fr-BE" dirty="0" smtClean="0">
                <a:solidFill>
                  <a:schemeClr val="bg1"/>
                </a:solidFill>
              </a:rPr>
              <a:t>Team Project : Arnaud Charlier</a:t>
            </a:r>
          </a:p>
          <a:p>
            <a:r>
              <a:rPr lang="fr-BE" dirty="0">
                <a:solidFill>
                  <a:schemeClr val="bg1"/>
                </a:solidFill>
              </a:rPr>
              <a:t> </a:t>
            </a:r>
            <a:r>
              <a:rPr lang="fr-BE" dirty="0" smtClean="0">
                <a:solidFill>
                  <a:schemeClr val="bg1"/>
                </a:solidFill>
              </a:rPr>
              <a:t>                         Dr Marie </a:t>
            </a:r>
            <a:r>
              <a:rPr lang="fr-BE" dirty="0" err="1" smtClean="0">
                <a:solidFill>
                  <a:schemeClr val="bg1"/>
                </a:solidFill>
              </a:rPr>
              <a:t>Detrait</a:t>
            </a:r>
            <a:endParaRPr lang="fr-BE" dirty="0" smtClean="0">
              <a:solidFill>
                <a:schemeClr val="bg1"/>
              </a:solidFill>
            </a:endParaRPr>
          </a:p>
          <a:p>
            <a:r>
              <a:rPr lang="fr-BE" dirty="0">
                <a:solidFill>
                  <a:schemeClr val="bg1"/>
                </a:solidFill>
              </a:rPr>
              <a:t> </a:t>
            </a:r>
            <a:r>
              <a:rPr lang="fr-BE" dirty="0" smtClean="0">
                <a:solidFill>
                  <a:schemeClr val="bg1"/>
                </a:solidFill>
              </a:rPr>
              <a:t>                         </a:t>
            </a:r>
            <a:r>
              <a:rPr lang="fr-BE" dirty="0" err="1" smtClean="0">
                <a:solidFill>
                  <a:schemeClr val="bg1"/>
                </a:solidFill>
              </a:rPr>
              <a:t>Frédérik</a:t>
            </a:r>
            <a:r>
              <a:rPr lang="fr-BE" dirty="0" smtClean="0">
                <a:solidFill>
                  <a:schemeClr val="bg1"/>
                </a:solidFill>
              </a:rPr>
              <a:t> </a:t>
            </a:r>
            <a:r>
              <a:rPr lang="fr-BE" dirty="0" err="1" smtClean="0">
                <a:solidFill>
                  <a:schemeClr val="bg1"/>
                </a:solidFill>
              </a:rPr>
              <a:t>Liénard</a:t>
            </a:r>
            <a:endParaRPr lang="fr-BE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extLst mod="1">
    <p:ext uri="{6950BFC3-D8DA-4A85-94F7-54DA5524770B}">
      <p188:commentRel xmlns=""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2265-7887-6E39-B733-F9F274BC5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Agenda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9CE04-0151-6751-A2E8-F3AD25346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sz="2400" dirty="0"/>
              <a:t>Template Instructions:</a:t>
            </a:r>
          </a:p>
          <a:p>
            <a:r>
              <a:rPr lang="fr-BE" sz="2000" dirty="0" err="1"/>
              <a:t>Please</a:t>
            </a:r>
            <a:r>
              <a:rPr lang="fr-BE" sz="2000" dirty="0"/>
              <a:t> document 1-3 test </a:t>
            </a:r>
            <a:r>
              <a:rPr lang="fr-BE" sz="2000" dirty="0" err="1"/>
              <a:t>scenario’s</a:t>
            </a:r>
            <a:r>
              <a:rPr lang="fr-BE" sz="2000" dirty="0"/>
              <a:t> for a </a:t>
            </a:r>
            <a:r>
              <a:rPr lang="fr-BE" sz="2000" dirty="0" err="1"/>
              <a:t>specific</a:t>
            </a:r>
            <a:r>
              <a:rPr lang="fr-BE" sz="2000" dirty="0"/>
              <a:t> ‘use case’ in </a:t>
            </a:r>
            <a:r>
              <a:rPr lang="fr-BE" sz="2000" dirty="0" err="1"/>
              <a:t>your</a:t>
            </a:r>
            <a:r>
              <a:rPr lang="fr-BE" sz="2000" dirty="0"/>
              <a:t> </a:t>
            </a:r>
            <a:r>
              <a:rPr lang="fr-BE" sz="2000" dirty="0" err="1"/>
              <a:t>project</a:t>
            </a:r>
            <a:r>
              <a:rPr lang="fr-BE" sz="2000" dirty="0"/>
              <a:t> </a:t>
            </a:r>
            <a:r>
              <a:rPr lang="fr-BE" sz="2000" dirty="0" err="1"/>
              <a:t>where</a:t>
            </a:r>
            <a:r>
              <a:rPr lang="fr-BE" sz="2000" dirty="0"/>
              <a:t> </a:t>
            </a:r>
            <a:r>
              <a:rPr lang="fr-BE" sz="2000" dirty="0" err="1"/>
              <a:t>you</a:t>
            </a:r>
            <a:r>
              <a:rPr lang="fr-BE" sz="2000" dirty="0"/>
              <a:t> can test FHIR </a:t>
            </a:r>
            <a:r>
              <a:rPr lang="fr-BE" sz="2000" dirty="0" err="1"/>
              <a:t>interoperability</a:t>
            </a:r>
            <a:r>
              <a:rPr lang="fr-BE" sz="2000" dirty="0"/>
              <a:t> at the </a:t>
            </a:r>
            <a:r>
              <a:rPr lang="fr-BE" sz="2000" dirty="0" err="1"/>
              <a:t>next</a:t>
            </a:r>
            <a:r>
              <a:rPr lang="fr-BE" sz="2000" dirty="0"/>
              <a:t> FHIR-a-thon</a:t>
            </a:r>
          </a:p>
          <a:p>
            <a:r>
              <a:rPr lang="fr-BE" sz="2000" dirty="0"/>
              <a:t>Scenario 1 / 2 / 3</a:t>
            </a:r>
          </a:p>
          <a:p>
            <a:pPr lvl="1"/>
            <a:r>
              <a:rPr lang="fr-BE" sz="1600" dirty="0" err="1"/>
              <a:t>Problem</a:t>
            </a:r>
            <a:r>
              <a:rPr lang="fr-BE" sz="1600" dirty="0"/>
              <a:t> </a:t>
            </a:r>
            <a:r>
              <a:rPr lang="fr-BE" sz="1600" dirty="0" err="1"/>
              <a:t>Statement</a:t>
            </a:r>
            <a:r>
              <a:rPr lang="fr-BE" sz="1600" dirty="0"/>
              <a:t>: </a:t>
            </a:r>
            <a:r>
              <a:rPr lang="fr-BE" sz="1600" dirty="0" err="1"/>
              <a:t>what</a:t>
            </a:r>
            <a:r>
              <a:rPr lang="fr-BE" sz="1600" dirty="0"/>
              <a:t> ‘use case’ for data exchange do </a:t>
            </a:r>
            <a:r>
              <a:rPr lang="fr-BE" sz="1600" dirty="0" err="1"/>
              <a:t>you</a:t>
            </a:r>
            <a:r>
              <a:rPr lang="fr-BE" sz="1600" dirty="0"/>
              <a:t> </a:t>
            </a:r>
            <a:r>
              <a:rPr lang="fr-BE" sz="1600" dirty="0" err="1"/>
              <a:t>want</a:t>
            </a:r>
            <a:r>
              <a:rPr lang="fr-BE" sz="1600" dirty="0"/>
              <a:t> to test?</a:t>
            </a:r>
          </a:p>
          <a:p>
            <a:pPr lvl="1"/>
            <a:r>
              <a:rPr lang="fr-BE" sz="1600" dirty="0"/>
              <a:t>Scope: </a:t>
            </a:r>
            <a:r>
              <a:rPr lang="fr-BE" sz="1600" dirty="0" err="1"/>
              <a:t>what</a:t>
            </a:r>
            <a:r>
              <a:rPr lang="fr-BE" sz="1600" dirty="0"/>
              <a:t> data sources and FHIR </a:t>
            </a:r>
            <a:r>
              <a:rPr lang="fr-BE" sz="1600" dirty="0" err="1"/>
              <a:t>resources</a:t>
            </a:r>
            <a:r>
              <a:rPr lang="fr-BE" sz="1600" dirty="0"/>
              <a:t> are </a:t>
            </a:r>
            <a:r>
              <a:rPr lang="fr-BE" sz="1600" dirty="0" err="1"/>
              <a:t>involved</a:t>
            </a:r>
            <a:r>
              <a:rPr lang="fr-BE" sz="1600" dirty="0"/>
              <a:t>?</a:t>
            </a:r>
          </a:p>
          <a:p>
            <a:pPr lvl="1"/>
            <a:r>
              <a:rPr lang="fr-BE" sz="1600" dirty="0"/>
              <a:t>Test Concept: document high-</a:t>
            </a:r>
            <a:r>
              <a:rPr lang="fr-BE" sz="1600" dirty="0" err="1"/>
              <a:t>level</a:t>
            </a:r>
            <a:r>
              <a:rPr lang="fr-BE" sz="1600" dirty="0"/>
              <a:t> </a:t>
            </a:r>
            <a:r>
              <a:rPr lang="fr-BE" sz="1600" dirty="0" err="1"/>
              <a:t>dataflow</a:t>
            </a:r>
            <a:r>
              <a:rPr lang="fr-BE" sz="1600" dirty="0"/>
              <a:t> to test</a:t>
            </a:r>
          </a:p>
          <a:p>
            <a:pPr lvl="1"/>
            <a:r>
              <a:rPr lang="fr-BE" sz="1600" dirty="0" err="1"/>
              <a:t>Deliverable</a:t>
            </a:r>
            <a:r>
              <a:rPr lang="fr-BE" sz="1600" dirty="0"/>
              <a:t> / </a:t>
            </a:r>
            <a:r>
              <a:rPr lang="fr-BE" sz="1600" dirty="0" err="1"/>
              <a:t>Result</a:t>
            </a:r>
            <a:r>
              <a:rPr lang="fr-BE" sz="1600" dirty="0"/>
              <a:t>: </a:t>
            </a:r>
            <a:r>
              <a:rPr lang="fr-BE" sz="1600" dirty="0" err="1"/>
              <a:t>what</a:t>
            </a:r>
            <a:r>
              <a:rPr lang="fr-BE" sz="1600" dirty="0"/>
              <a:t> </a:t>
            </a:r>
            <a:r>
              <a:rPr lang="fr-BE" sz="1600" dirty="0" err="1"/>
              <a:t>results</a:t>
            </a:r>
            <a:r>
              <a:rPr lang="fr-BE" sz="1600" dirty="0"/>
              <a:t> are </a:t>
            </a:r>
            <a:r>
              <a:rPr lang="fr-BE" sz="1600" dirty="0" err="1"/>
              <a:t>expected</a:t>
            </a:r>
            <a:r>
              <a:rPr lang="fr-BE" sz="1600" dirty="0"/>
              <a:t> as per acceptance </a:t>
            </a:r>
            <a:r>
              <a:rPr lang="fr-BE" sz="1600" dirty="0" err="1"/>
              <a:t>criteria</a:t>
            </a:r>
            <a:r>
              <a:rPr lang="fr-BE" sz="1600" dirty="0"/>
              <a:t>?</a:t>
            </a:r>
          </a:p>
          <a:p>
            <a:r>
              <a:rPr lang="fr-BE" sz="2000" dirty="0" err="1"/>
              <a:t>Please</a:t>
            </a:r>
            <a:r>
              <a:rPr lang="fr-BE" sz="2000" dirty="0"/>
              <a:t> </a:t>
            </a:r>
            <a:r>
              <a:rPr lang="fr-BE" sz="2000" dirty="0" err="1"/>
              <a:t>include</a:t>
            </a:r>
            <a:r>
              <a:rPr lang="fr-BE" sz="2000" dirty="0"/>
              <a:t> </a:t>
            </a:r>
            <a:r>
              <a:rPr lang="fr-BE" sz="2000" dirty="0" err="1"/>
              <a:t>hospitals</a:t>
            </a:r>
            <a:r>
              <a:rPr lang="fr-BE" sz="2000" dirty="0"/>
              <a:t> and test team </a:t>
            </a:r>
            <a:r>
              <a:rPr lang="fr-BE" sz="2000" dirty="0" err="1"/>
              <a:t>involved</a:t>
            </a:r>
            <a:endParaRPr lang="fr-BE" sz="2000" dirty="0"/>
          </a:p>
          <a:p>
            <a:r>
              <a:rPr lang="fr-BE" sz="2000" dirty="0"/>
              <a:t>Let us know </a:t>
            </a:r>
            <a:r>
              <a:rPr lang="fr-BE" sz="2000" dirty="0" err="1"/>
              <a:t>what</a:t>
            </a:r>
            <a:r>
              <a:rPr lang="fr-BE" sz="2000" dirty="0"/>
              <a:t> questions or support </a:t>
            </a:r>
            <a:r>
              <a:rPr lang="fr-BE" sz="2000" dirty="0" err="1"/>
              <a:t>you</a:t>
            </a:r>
            <a:r>
              <a:rPr lang="fr-BE" sz="2000" dirty="0"/>
              <a:t> </a:t>
            </a:r>
            <a:r>
              <a:rPr lang="fr-BE" sz="2000" dirty="0" err="1"/>
              <a:t>need</a:t>
            </a:r>
            <a:r>
              <a:rPr lang="fr-BE" sz="2000" dirty="0"/>
              <a:t> to </a:t>
            </a:r>
            <a:r>
              <a:rPr lang="fr-BE" sz="2000" dirty="0" err="1"/>
              <a:t>prepare</a:t>
            </a:r>
            <a:r>
              <a:rPr lang="fr-BE" sz="2000" dirty="0"/>
              <a:t> FHIR-a-thon </a:t>
            </a:r>
            <a:r>
              <a:rPr lang="fr-BE" sz="2000" dirty="0" err="1"/>
              <a:t>testing</a:t>
            </a:r>
            <a:endParaRPr lang="nl-B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6E3D3-CF10-0212-3586-F620C90F0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970697-AD87-4807-B496-E55323FB97B2}" type="slidenum">
              <a:rPr lang="nl-BE" smtClean="0"/>
              <a:pPr>
                <a:defRPr/>
              </a:pPr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24011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3F9BE1-86C1-B570-51DD-5AC154B1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891" y="350838"/>
            <a:ext cx="11824854" cy="1376362"/>
          </a:xfrm>
        </p:spPr>
        <p:txBody>
          <a:bodyPr/>
          <a:lstStyle/>
          <a:p>
            <a:r>
              <a:rPr lang="nl-BE" dirty="0">
                <a:latin typeface="Open Sans"/>
                <a:ea typeface="Open Sans"/>
                <a:cs typeface="Open Sans"/>
              </a:rPr>
              <a:t>Scenario </a:t>
            </a:r>
            <a:r>
              <a:rPr lang="nl-BE" dirty="0" smtClean="0">
                <a:latin typeface="Open Sans"/>
                <a:ea typeface="Open Sans"/>
                <a:cs typeface="Open Sans"/>
              </a:rPr>
              <a:t>1 </a:t>
            </a:r>
            <a:r>
              <a:rPr lang="fr-BE" sz="3600" dirty="0" err="1"/>
              <a:t>Infectious</a:t>
            </a:r>
            <a:r>
              <a:rPr lang="fr-BE" sz="3600" dirty="0"/>
              <a:t> </a:t>
            </a:r>
            <a:r>
              <a:rPr lang="fr-BE" sz="3600" dirty="0" err="1"/>
              <a:t>Disease</a:t>
            </a:r>
            <a:r>
              <a:rPr lang="fr-BE" sz="3600" dirty="0"/>
              <a:t> </a:t>
            </a:r>
            <a:r>
              <a:rPr lang="fr-BE" sz="3600" dirty="0" err="1"/>
              <a:t>Clinical</a:t>
            </a:r>
            <a:r>
              <a:rPr lang="fr-BE" sz="3600" dirty="0"/>
              <a:t> Note Exchange</a:t>
            </a:r>
            <a:endParaRPr lang="nl-BE" sz="360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D655B8F-4EA0-E5DD-A7C9-23EEF029F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292" y="1893453"/>
            <a:ext cx="11711708" cy="4590473"/>
          </a:xfrm>
        </p:spPr>
        <p:txBody>
          <a:bodyPr/>
          <a:lstStyle/>
          <a:p>
            <a:pPr>
              <a:buNone/>
            </a:pPr>
            <a:r>
              <a:rPr lang="nl-BE" sz="2400" b="1" dirty="0" err="1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Problem</a:t>
            </a:r>
            <a:r>
              <a:rPr lang="nl-BE" sz="2400" b="1" dirty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nl-BE" sz="2400" b="1" dirty="0" smtClean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statement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fr-FR" altLang="fr-FR" sz="1800" dirty="0">
                <a:latin typeface="Arial" panose="020B0604020202020204" pitchFamily="34" charset="0"/>
              </a:rPr>
              <a:t/>
            </a:r>
            <a:br>
              <a:rPr lang="fr-FR" altLang="fr-FR" sz="1800" dirty="0">
                <a:latin typeface="Arial" panose="020B0604020202020204" pitchFamily="34" charset="0"/>
              </a:rPr>
            </a:br>
            <a:r>
              <a:rPr lang="fr-FR" altLang="fr-FR" sz="2400" dirty="0">
                <a:latin typeface="Arial" panose="020B0604020202020204" pitchFamily="34" charset="0"/>
              </a:rPr>
              <a:t>A </a:t>
            </a:r>
            <a:r>
              <a:rPr lang="fr-FR" altLang="fr-FR" sz="2400" dirty="0" err="1">
                <a:latin typeface="Arial" panose="020B0604020202020204" pitchFamily="34" charset="0"/>
              </a:rPr>
              <a:t>geriatrician</a:t>
            </a:r>
            <a:r>
              <a:rPr lang="fr-FR" altLang="fr-FR" sz="2400" dirty="0">
                <a:latin typeface="Arial" panose="020B0604020202020204" pitchFamily="34" charset="0"/>
              </a:rPr>
              <a:t> at Grand Hôpital de Charleroi </a:t>
            </a:r>
            <a:r>
              <a:rPr lang="fr-FR" altLang="fr-FR" sz="2400" dirty="0" err="1">
                <a:latin typeface="Arial" panose="020B0604020202020204" pitchFamily="34" charset="0"/>
              </a:rPr>
              <a:t>needs</a:t>
            </a:r>
            <a:r>
              <a:rPr lang="fr-FR" altLang="fr-FR" sz="2400" dirty="0">
                <a:latin typeface="Arial" panose="020B0604020202020204" pitchFamily="34" charset="0"/>
              </a:rPr>
              <a:t> </a:t>
            </a:r>
            <a:r>
              <a:rPr lang="fr-FR" altLang="fr-FR" sz="2400" dirty="0" err="1">
                <a:latin typeface="Arial" panose="020B0604020202020204" pitchFamily="34" charset="0"/>
              </a:rPr>
              <a:t>access</a:t>
            </a:r>
            <a:r>
              <a:rPr lang="fr-FR" altLang="fr-FR" sz="2400" dirty="0">
                <a:latin typeface="Arial" panose="020B0604020202020204" pitchFamily="34" charset="0"/>
              </a:rPr>
              <a:t> to </a:t>
            </a:r>
            <a:r>
              <a:rPr lang="fr-FR" altLang="fr-FR" sz="2400" dirty="0" err="1">
                <a:latin typeface="Arial" panose="020B0604020202020204" pitchFamily="34" charset="0"/>
              </a:rPr>
              <a:t>structured</a:t>
            </a:r>
            <a:r>
              <a:rPr lang="fr-FR" altLang="fr-FR" sz="2400" dirty="0">
                <a:latin typeface="Arial" panose="020B0604020202020204" pitchFamily="34" charset="0"/>
              </a:rPr>
              <a:t> </a:t>
            </a:r>
            <a:r>
              <a:rPr lang="fr-FR" altLang="fr-FR" sz="2400" dirty="0" err="1">
                <a:latin typeface="Arial" panose="020B0604020202020204" pitchFamily="34" charset="0"/>
              </a:rPr>
              <a:t>infectious</a:t>
            </a:r>
            <a:r>
              <a:rPr lang="fr-FR" altLang="fr-FR" sz="2400" dirty="0">
                <a:latin typeface="Arial" panose="020B0604020202020204" pitchFamily="34" charset="0"/>
              </a:rPr>
              <a:t> </a:t>
            </a:r>
            <a:r>
              <a:rPr lang="fr-FR" altLang="fr-FR" sz="2400" dirty="0" err="1">
                <a:latin typeface="Arial" panose="020B0604020202020204" pitchFamily="34" charset="0"/>
              </a:rPr>
              <a:t>disease</a:t>
            </a:r>
            <a:r>
              <a:rPr lang="fr-FR" altLang="fr-FR" sz="2400" dirty="0">
                <a:latin typeface="Arial" panose="020B0604020202020204" pitchFamily="34" charset="0"/>
              </a:rPr>
              <a:t> </a:t>
            </a:r>
            <a:r>
              <a:rPr lang="fr-FR" altLang="fr-FR" sz="2400" dirty="0" err="1" smtClean="0">
                <a:latin typeface="Arial" panose="020B0604020202020204" pitchFamily="34" charset="0"/>
              </a:rPr>
              <a:t>medical</a:t>
            </a:r>
            <a:r>
              <a:rPr lang="fr-FR" altLang="fr-FR" sz="2400" dirty="0" smtClean="0">
                <a:latin typeface="Arial" panose="020B0604020202020204" pitchFamily="34" charset="0"/>
              </a:rPr>
              <a:t> note </a:t>
            </a:r>
            <a:r>
              <a:rPr lang="fr-FR" altLang="fr-FR" sz="2400" dirty="0" err="1">
                <a:latin typeface="Arial" panose="020B0604020202020204" pitchFamily="34" charset="0"/>
              </a:rPr>
              <a:t>previously</a:t>
            </a:r>
            <a:r>
              <a:rPr lang="fr-FR" altLang="fr-FR" sz="2400" dirty="0">
                <a:latin typeface="Arial" panose="020B0604020202020204" pitchFamily="34" charset="0"/>
              </a:rPr>
              <a:t> </a:t>
            </a:r>
            <a:r>
              <a:rPr lang="fr-FR" altLang="fr-FR" sz="2400" dirty="0" err="1">
                <a:latin typeface="Arial" panose="020B0604020202020204" pitchFamily="34" charset="0"/>
              </a:rPr>
              <a:t>issued</a:t>
            </a:r>
            <a:r>
              <a:rPr lang="fr-FR" altLang="fr-FR" sz="2400" dirty="0">
                <a:latin typeface="Arial" panose="020B0604020202020204" pitchFamily="34" charset="0"/>
              </a:rPr>
              <a:t> at CH Mouscron to support </a:t>
            </a:r>
            <a:r>
              <a:rPr lang="fr-FR" altLang="fr-FR" sz="2400" dirty="0" err="1">
                <a:latin typeface="Arial" panose="020B0604020202020204" pitchFamily="34" charset="0"/>
              </a:rPr>
              <a:t>continuity</a:t>
            </a:r>
            <a:r>
              <a:rPr lang="fr-FR" altLang="fr-FR" sz="2400" dirty="0">
                <a:latin typeface="Arial" panose="020B0604020202020204" pitchFamily="34" charset="0"/>
              </a:rPr>
              <a:t> of care for a </a:t>
            </a:r>
            <a:r>
              <a:rPr lang="fr-FR" altLang="fr-FR" sz="2400" dirty="0" err="1">
                <a:latin typeface="Arial" panose="020B0604020202020204" pitchFamily="34" charset="0"/>
              </a:rPr>
              <a:t>shared</a:t>
            </a:r>
            <a:r>
              <a:rPr lang="fr-FR" altLang="fr-FR" sz="2400" dirty="0">
                <a:latin typeface="Arial" panose="020B0604020202020204" pitchFamily="34" charset="0"/>
              </a:rPr>
              <a:t> patient.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None/>
            </a:pPr>
            <a:endParaRPr lang="fr-FR" altLang="fr-FR" sz="1800" b="1" dirty="0" smtClean="0">
              <a:latin typeface="Arial" panose="020B0604020202020204" pitchFamily="34" charset="0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r>
              <a:rPr lang="en-US" sz="2400" dirty="0"/>
              <a:t>Hospitals and test team involved: CH Mouscron, Grand </a:t>
            </a:r>
            <a:r>
              <a:rPr lang="en-US" sz="2400" dirty="0" err="1"/>
              <a:t>Hôpital</a:t>
            </a:r>
            <a:r>
              <a:rPr lang="en-US" sz="2400" dirty="0"/>
              <a:t> de Charleroi</a:t>
            </a:r>
            <a:endParaRPr lang="fr-BE" sz="2400" dirty="0"/>
          </a:p>
          <a:p>
            <a:pPr>
              <a:buNone/>
            </a:pPr>
            <a:endParaRPr lang="fr-BE" sz="2400" dirty="0"/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nl-BE" dirty="0">
              <a:latin typeface="Open Sans"/>
              <a:ea typeface="Open Sans"/>
              <a:cs typeface="Open San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B18D95-8C2C-FAB8-CF98-DB8B9136B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970697-AD87-4807-B496-E55323FB97B2}" type="slidenum">
              <a:rPr lang="nl-BE" smtClean="0"/>
              <a:pPr>
                <a:defRPr/>
              </a:pPr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5668598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0EC7-8AF1-7939-0F65-85391586E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73F20D-CEAB-42B2-3641-91BAA14A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Open Sans"/>
                <a:ea typeface="Open Sans"/>
                <a:cs typeface="Open Sans"/>
              </a:rPr>
              <a:t>Scenario 1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30DE9B0-469D-5C75-BEB7-A213C24B7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nl-BE" sz="2400" b="1" dirty="0" err="1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Specific</a:t>
            </a:r>
            <a:r>
              <a:rPr lang="nl-BE" sz="2400" b="1" dirty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 scope</a:t>
            </a:r>
            <a:endParaRPr lang="nl-BE" sz="2400" b="1" dirty="0">
              <a:solidFill>
                <a:srgbClr val="40E4AD"/>
              </a:solidFill>
            </a:endParaRPr>
          </a:p>
          <a:p>
            <a:pPr marL="0" indent="0">
              <a:buNone/>
            </a:pPr>
            <a:endParaRPr lang="nl-BE" dirty="0">
              <a:latin typeface="Open Sans"/>
              <a:ea typeface="Open Sans"/>
              <a:cs typeface="Open San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2775EAD-7018-12A4-3191-4C80F592B1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970697-AD87-4807-B496-E55323FB97B2}" type="slidenum">
              <a:rPr lang="nl-BE" smtClean="0"/>
              <a:pPr>
                <a:defRPr/>
              </a:pPr>
              <a:t>4</a:t>
            </a:fld>
            <a:endParaRPr lang="nl-BE"/>
          </a:p>
        </p:txBody>
      </p:sp>
      <p:sp>
        <p:nvSpPr>
          <p:cNvPr id="5" name="Rectangle 4"/>
          <p:cNvSpPr/>
          <p:nvPr/>
        </p:nvSpPr>
        <p:spPr>
          <a:xfrm>
            <a:off x="1108362" y="2641147"/>
            <a:ext cx="10677238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fr-FR" altLang="fr-FR" dirty="0">
              <a:latin typeface="Arial" panose="020B0604020202020204" pitchFamily="34" charset="0"/>
            </a:endParaRPr>
          </a:p>
          <a:p>
            <a:pPr lvl="0">
              <a:buFontTx/>
              <a:buChar char="•"/>
            </a:pPr>
            <a:r>
              <a:rPr lang="fr-FR" altLang="fr-FR" sz="2400" b="1" dirty="0">
                <a:latin typeface="+mn-lt"/>
              </a:rPr>
              <a:t>Sender:</a:t>
            </a:r>
            <a:r>
              <a:rPr lang="fr-FR" altLang="fr-FR" sz="2400" dirty="0">
                <a:latin typeface="+mn-lt"/>
              </a:rPr>
              <a:t> CH Mouscron</a:t>
            </a:r>
          </a:p>
          <a:p>
            <a:pPr lvl="0">
              <a:buFontTx/>
              <a:buChar char="•"/>
            </a:pPr>
            <a:r>
              <a:rPr lang="fr-FR" altLang="fr-FR" sz="2400" b="1" dirty="0" err="1">
                <a:latin typeface="+mn-lt"/>
              </a:rPr>
              <a:t>Receiver</a:t>
            </a:r>
            <a:r>
              <a:rPr lang="fr-FR" altLang="fr-FR" sz="2400" b="1" dirty="0">
                <a:latin typeface="+mn-lt"/>
              </a:rPr>
              <a:t>:</a:t>
            </a:r>
            <a:r>
              <a:rPr lang="fr-FR" altLang="fr-FR" sz="2400" dirty="0">
                <a:latin typeface="+mn-lt"/>
              </a:rPr>
              <a:t> Grand Hôpital de Charleroi</a:t>
            </a:r>
          </a:p>
          <a:p>
            <a:pPr lvl="0">
              <a:buFontTx/>
              <a:buChar char="•"/>
            </a:pPr>
            <a:r>
              <a:rPr lang="fr-FR" altLang="fr-FR" sz="2400" b="1" dirty="0">
                <a:latin typeface="+mn-lt"/>
              </a:rPr>
              <a:t>FHIR </a:t>
            </a:r>
            <a:r>
              <a:rPr lang="fr-FR" altLang="fr-FR" sz="2400" b="1" dirty="0" err="1" smtClean="0">
                <a:latin typeface="+mn-lt"/>
              </a:rPr>
              <a:t>Resources</a:t>
            </a:r>
            <a:r>
              <a:rPr lang="fr-FR" altLang="fr-FR" sz="2400" b="1" dirty="0" smtClean="0">
                <a:latin typeface="+mn-lt"/>
              </a:rPr>
              <a:t> </a:t>
            </a:r>
            <a:r>
              <a:rPr lang="fr-FR" altLang="fr-FR" sz="2400" b="1" dirty="0" err="1" smtClean="0">
                <a:latin typeface="+mn-lt"/>
              </a:rPr>
              <a:t>used</a:t>
            </a:r>
            <a:r>
              <a:rPr lang="fr-FR" altLang="fr-FR" sz="2400" b="1" dirty="0" smtClean="0">
                <a:latin typeface="+mn-lt"/>
              </a:rPr>
              <a:t>:</a:t>
            </a:r>
            <a:endParaRPr lang="fr-FR" altLang="fr-FR" sz="2400" dirty="0">
              <a:latin typeface="+mn-lt"/>
            </a:endParaRPr>
          </a:p>
          <a:p>
            <a:pPr lvl="1"/>
            <a:r>
              <a:rPr lang="fr-FR" altLang="fr-FR" sz="2400" dirty="0">
                <a:latin typeface="+mn-lt"/>
              </a:rPr>
              <a:t> </a:t>
            </a:r>
            <a:r>
              <a:rPr lang="fr-FR" altLang="fr-FR" sz="2400" dirty="0" smtClean="0">
                <a:latin typeface="+mn-lt"/>
              </a:rPr>
              <a:t>                                    </a:t>
            </a:r>
            <a:r>
              <a:rPr lang="fr-FR" altLang="fr-FR" sz="2400" dirty="0">
                <a:latin typeface="+mn-lt"/>
              </a:rPr>
              <a:t>Patient, Observation, Condition, </a:t>
            </a:r>
            <a:r>
              <a:rPr lang="fr-FR" altLang="fr-FR" sz="2400" dirty="0" err="1">
                <a:latin typeface="+mn-lt"/>
              </a:rPr>
              <a:t>Procedure</a:t>
            </a:r>
            <a:r>
              <a:rPr lang="fr-FR" altLang="fr-FR" sz="2400" dirty="0">
                <a:latin typeface="+mn-lt"/>
              </a:rPr>
              <a:t>, </a:t>
            </a:r>
            <a:r>
              <a:rPr lang="fr-FR" altLang="fr-FR" sz="2400" dirty="0" smtClean="0">
                <a:latin typeface="+mn-lt"/>
              </a:rPr>
              <a:t>   </a:t>
            </a:r>
          </a:p>
          <a:p>
            <a:pPr lvl="1"/>
            <a:r>
              <a:rPr lang="fr-FR" altLang="fr-FR" sz="2400" dirty="0" smtClean="0">
                <a:latin typeface="+mn-lt"/>
              </a:rPr>
              <a:t>                                     </a:t>
            </a:r>
            <a:r>
              <a:rPr lang="fr-FR" altLang="fr-FR" sz="2400" dirty="0" err="1" smtClean="0">
                <a:latin typeface="+mn-lt"/>
              </a:rPr>
              <a:t>DiagnosticReport</a:t>
            </a:r>
            <a:r>
              <a:rPr lang="fr-FR" altLang="fr-FR" sz="2400" dirty="0" smtClean="0">
                <a:latin typeface="+mn-lt"/>
              </a:rPr>
              <a:t>, </a:t>
            </a:r>
            <a:r>
              <a:rPr lang="fr-FR" altLang="fr-FR" sz="2400" dirty="0" err="1" smtClean="0">
                <a:latin typeface="+mn-lt"/>
              </a:rPr>
              <a:t>QuestionnaireResponse</a:t>
            </a:r>
            <a:endParaRPr lang="fr-FR" altLang="fr-FR" sz="2400" dirty="0" smtClean="0">
              <a:latin typeface="+mn-lt"/>
            </a:endParaRPr>
          </a:p>
          <a:p>
            <a:pPr lvl="1"/>
            <a:endParaRPr lang="fr-FR" altLang="fr-FR" sz="2400" dirty="0">
              <a:latin typeface="+mn-lt"/>
            </a:endParaRPr>
          </a:p>
          <a:p>
            <a:pPr lvl="1"/>
            <a:endParaRPr lang="fr-FR" altLang="fr-FR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8596117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9831A-B709-75E0-2784-71522F3B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EEA0AA-0F58-A4E5-F392-573E28C64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78080"/>
            <a:ext cx="10515600" cy="1325563"/>
          </a:xfrm>
        </p:spPr>
        <p:txBody>
          <a:bodyPr/>
          <a:lstStyle/>
          <a:p>
            <a:r>
              <a:rPr lang="nl-BE" dirty="0">
                <a:latin typeface="Open Sans"/>
                <a:ea typeface="Open Sans"/>
                <a:cs typeface="Open Sans"/>
              </a:rPr>
              <a:t>Scenario 1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65D02EC-9223-AEB4-54DA-2A8166697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643" y="1690688"/>
            <a:ext cx="11288713" cy="4323613"/>
          </a:xfrm>
        </p:spPr>
        <p:txBody>
          <a:bodyPr/>
          <a:lstStyle/>
          <a:p>
            <a:pPr>
              <a:buNone/>
            </a:pPr>
            <a:r>
              <a:rPr lang="nl-BE" sz="2400" b="1" dirty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Test of </a:t>
            </a:r>
            <a:r>
              <a:rPr lang="nl-BE" sz="2400" b="1" dirty="0" smtClean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concept</a:t>
            </a: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r>
              <a:rPr lang="fr-FR" altLang="fr-FR" dirty="0" smtClean="0">
                <a:latin typeface="+mn-lt"/>
              </a:rPr>
              <a:t>Use </a:t>
            </a:r>
            <a:r>
              <a:rPr lang="fr-FR" altLang="fr-FR" dirty="0">
                <a:latin typeface="+mn-lt"/>
              </a:rPr>
              <a:t>a </a:t>
            </a:r>
            <a:r>
              <a:rPr lang="fr-FR" altLang="fr-FR" dirty="0" err="1">
                <a:latin typeface="+mn-lt"/>
              </a:rPr>
              <a:t>secured</a:t>
            </a:r>
            <a:r>
              <a:rPr lang="fr-FR" altLang="fr-FR" dirty="0">
                <a:latin typeface="+mn-lt"/>
              </a:rPr>
              <a:t> </a:t>
            </a:r>
            <a:r>
              <a:rPr lang="fr-FR" altLang="fr-FR" dirty="0" err="1">
                <a:latin typeface="+mn-lt"/>
              </a:rPr>
              <a:t>RESTful</a:t>
            </a:r>
            <a:r>
              <a:rPr lang="fr-FR" altLang="fr-FR" dirty="0">
                <a:latin typeface="+mn-lt"/>
              </a:rPr>
              <a:t> FHIR API </a:t>
            </a:r>
            <a:r>
              <a:rPr lang="fr-FR" altLang="fr-FR" dirty="0" smtClean="0">
                <a:latin typeface="+mn-lt"/>
              </a:rPr>
              <a:t>to </a:t>
            </a:r>
            <a:r>
              <a:rPr lang="fr-FR" altLang="fr-FR" dirty="0">
                <a:latin typeface="+mn-lt"/>
              </a:rPr>
              <a:t>exchange </a:t>
            </a:r>
            <a:r>
              <a:rPr lang="fr-FR" altLang="fr-FR" dirty="0" err="1">
                <a:latin typeface="+mn-lt"/>
              </a:rPr>
              <a:t>infectious</a:t>
            </a:r>
            <a:r>
              <a:rPr lang="fr-FR" altLang="fr-FR" dirty="0">
                <a:latin typeface="+mn-lt"/>
              </a:rPr>
              <a:t> </a:t>
            </a:r>
            <a:r>
              <a:rPr lang="fr-FR" altLang="fr-FR" dirty="0" err="1">
                <a:latin typeface="+mn-lt"/>
              </a:rPr>
              <a:t>disease</a:t>
            </a:r>
            <a:r>
              <a:rPr lang="fr-FR" altLang="fr-FR" dirty="0">
                <a:latin typeface="+mn-lt"/>
              </a:rPr>
              <a:t> information </a:t>
            </a:r>
            <a:r>
              <a:rPr lang="fr-FR" altLang="fr-FR" dirty="0" err="1">
                <a:latin typeface="+mn-lt"/>
              </a:rPr>
              <a:t>structured</a:t>
            </a:r>
            <a:r>
              <a:rPr lang="fr-FR" altLang="fr-FR" dirty="0">
                <a:latin typeface="+mn-lt"/>
              </a:rPr>
              <a:t> in FHIR, </a:t>
            </a:r>
            <a:r>
              <a:rPr lang="fr-FR" altLang="fr-FR" dirty="0" err="1">
                <a:latin typeface="+mn-lt"/>
              </a:rPr>
              <a:t>including</a:t>
            </a:r>
            <a:r>
              <a:rPr lang="fr-FR" altLang="fr-FR" dirty="0">
                <a:latin typeface="+mn-lt"/>
              </a:rPr>
              <a:t> </a:t>
            </a:r>
            <a:r>
              <a:rPr lang="fr-FR" altLang="fr-FR" dirty="0" err="1">
                <a:latin typeface="+mn-lt"/>
              </a:rPr>
              <a:t>fever</a:t>
            </a:r>
            <a:r>
              <a:rPr lang="fr-FR" altLang="fr-FR" dirty="0">
                <a:latin typeface="+mn-lt"/>
              </a:rPr>
              <a:t> (Observation), </a:t>
            </a:r>
            <a:r>
              <a:rPr lang="fr-FR" altLang="fr-FR" dirty="0" err="1">
                <a:latin typeface="+mn-lt"/>
              </a:rPr>
              <a:t>diagnosis</a:t>
            </a:r>
            <a:r>
              <a:rPr lang="fr-FR" altLang="fr-FR" dirty="0">
                <a:latin typeface="+mn-lt"/>
              </a:rPr>
              <a:t> (</a:t>
            </a:r>
            <a:r>
              <a:rPr lang="fr-FR" altLang="fr-FR" dirty="0" err="1">
                <a:latin typeface="+mn-lt"/>
              </a:rPr>
              <a:t>e.g</a:t>
            </a:r>
            <a:r>
              <a:rPr lang="fr-FR" altLang="fr-FR" dirty="0">
                <a:latin typeface="+mn-lt"/>
              </a:rPr>
              <a:t>., Zona via Condition), and </a:t>
            </a:r>
            <a:r>
              <a:rPr lang="fr-FR" altLang="fr-FR" dirty="0" err="1">
                <a:latin typeface="+mn-lt"/>
              </a:rPr>
              <a:t>procedures</a:t>
            </a:r>
            <a:r>
              <a:rPr lang="fr-FR" altLang="fr-FR" dirty="0">
                <a:latin typeface="+mn-lt"/>
              </a:rPr>
              <a:t> </a:t>
            </a:r>
            <a:r>
              <a:rPr lang="fr-FR" altLang="fr-FR" dirty="0" err="1">
                <a:latin typeface="+mn-lt"/>
              </a:rPr>
              <a:t>like</a:t>
            </a:r>
            <a:r>
              <a:rPr lang="fr-FR" altLang="fr-FR" dirty="0">
                <a:latin typeface="+mn-lt"/>
              </a:rPr>
              <a:t> </a:t>
            </a:r>
            <a:r>
              <a:rPr lang="fr-FR" altLang="fr-FR" dirty="0" err="1">
                <a:latin typeface="+mn-lt"/>
              </a:rPr>
              <a:t>microbiology</a:t>
            </a:r>
            <a:r>
              <a:rPr lang="fr-FR" altLang="fr-FR" dirty="0">
                <a:latin typeface="+mn-lt"/>
              </a:rPr>
              <a:t> culture and antiviral </a:t>
            </a:r>
            <a:r>
              <a:rPr lang="fr-FR" altLang="fr-FR" dirty="0" err="1">
                <a:latin typeface="+mn-lt"/>
              </a:rPr>
              <a:t>treatment</a:t>
            </a:r>
            <a:r>
              <a:rPr lang="fr-FR" altLang="fr-FR" dirty="0">
                <a:latin typeface="+mn-lt"/>
              </a:rPr>
              <a:t>. </a:t>
            </a:r>
            <a:endParaRPr lang="fr-FR" altLang="fr-FR" dirty="0" smtClean="0">
              <a:latin typeface="+mn-lt"/>
            </a:endParaRPr>
          </a:p>
          <a:p>
            <a:pPr>
              <a:buNone/>
            </a:pPr>
            <a:r>
              <a:rPr lang="fr-FR" altLang="fr-FR" dirty="0" smtClean="0">
                <a:latin typeface="+mn-lt"/>
              </a:rPr>
              <a:t>The </a:t>
            </a:r>
            <a:r>
              <a:rPr lang="fr-FR" altLang="fr-FR" dirty="0" err="1">
                <a:latin typeface="+mn-lt"/>
              </a:rPr>
              <a:t>QuestionnaireResponse</a:t>
            </a:r>
            <a:r>
              <a:rPr lang="fr-FR" altLang="fr-FR" dirty="0">
                <a:latin typeface="+mn-lt"/>
              </a:rPr>
              <a:t> </a:t>
            </a:r>
            <a:r>
              <a:rPr lang="fr-FR" altLang="fr-FR" dirty="0" err="1">
                <a:latin typeface="+mn-lt"/>
              </a:rPr>
              <a:t>is</a:t>
            </a:r>
            <a:r>
              <a:rPr lang="fr-FR" altLang="fr-FR" dirty="0">
                <a:latin typeface="+mn-lt"/>
              </a:rPr>
              <a:t> </a:t>
            </a:r>
            <a:r>
              <a:rPr lang="fr-FR" altLang="fr-FR" dirty="0" err="1">
                <a:latin typeface="+mn-lt"/>
              </a:rPr>
              <a:t>also</a:t>
            </a:r>
            <a:r>
              <a:rPr lang="fr-FR" altLang="fr-FR" dirty="0">
                <a:latin typeface="+mn-lt"/>
              </a:rPr>
              <a:t> </a:t>
            </a:r>
            <a:r>
              <a:rPr lang="fr-FR" altLang="fr-FR" dirty="0" err="1">
                <a:latin typeface="+mn-lt"/>
              </a:rPr>
              <a:t>used</a:t>
            </a:r>
            <a:r>
              <a:rPr lang="fr-FR" altLang="fr-FR" dirty="0">
                <a:latin typeface="+mn-lt"/>
              </a:rPr>
              <a:t> to </a:t>
            </a:r>
            <a:r>
              <a:rPr lang="fr-FR" altLang="fr-FR" dirty="0" err="1">
                <a:latin typeface="+mn-lt"/>
              </a:rPr>
              <a:t>convey</a:t>
            </a:r>
            <a:r>
              <a:rPr lang="fr-FR" altLang="fr-FR" dirty="0">
                <a:latin typeface="+mn-lt"/>
              </a:rPr>
              <a:t> </a:t>
            </a:r>
            <a:r>
              <a:rPr lang="fr-FR" altLang="fr-FR" dirty="0" err="1">
                <a:latin typeface="+mn-lt"/>
              </a:rPr>
              <a:t>structured</a:t>
            </a:r>
            <a:r>
              <a:rPr lang="fr-FR" altLang="fr-FR" dirty="0">
                <a:latin typeface="+mn-lt"/>
              </a:rPr>
              <a:t> </a:t>
            </a:r>
            <a:r>
              <a:rPr lang="fr-FR" altLang="fr-FR" dirty="0" err="1">
                <a:latin typeface="+mn-lt"/>
              </a:rPr>
              <a:t>clinical</a:t>
            </a:r>
            <a:r>
              <a:rPr lang="fr-FR" altLang="fr-FR" dirty="0">
                <a:latin typeface="+mn-lt"/>
              </a:rPr>
              <a:t> </a:t>
            </a:r>
            <a:r>
              <a:rPr lang="fr-FR" altLang="fr-FR" dirty="0" err="1">
                <a:latin typeface="+mn-lt"/>
              </a:rPr>
              <a:t>assessments</a:t>
            </a:r>
            <a:r>
              <a:rPr lang="fr-FR" altLang="fr-FR" dirty="0">
                <a:latin typeface="+mn-lt"/>
              </a:rPr>
              <a:t>. </a:t>
            </a:r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</a:endParaRPr>
          </a:p>
          <a:p>
            <a:pPr marL="0" indent="0">
              <a:buNone/>
            </a:pPr>
            <a:endParaRPr lang="nl-BE" dirty="0">
              <a:latin typeface="Open Sans"/>
              <a:ea typeface="Open Sans"/>
              <a:cs typeface="Open San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07F50F7-62D5-A601-DF73-198762D24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970697-AD87-4807-B496-E55323FB97B2}" type="slidenum">
              <a:rPr lang="nl-BE" smtClean="0"/>
              <a:pPr>
                <a:defRPr/>
              </a:pPr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7635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48C61-B3D4-2F0D-055B-AF9A72E2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B54F2-9492-AA6D-314B-6C30FBB60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Open Sans"/>
                <a:ea typeface="Open Sans"/>
                <a:cs typeface="Open Sans"/>
              </a:rPr>
              <a:t>Scenario 1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1CD6D5-42E4-74A2-2D03-C9C10272F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nl-BE" sz="2400" b="1" dirty="0" smtClean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Delivery</a:t>
            </a:r>
            <a:endParaRPr lang="nl-BE" sz="2400" b="1" dirty="0" smtClean="0">
              <a:solidFill>
                <a:srgbClr val="40E4AD"/>
              </a:solidFill>
            </a:endParaRPr>
          </a:p>
          <a:p>
            <a:pPr marL="0" indent="0"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fr-FR" altLang="fr-FR" dirty="0" err="1">
                <a:latin typeface="Arial" panose="020B0604020202020204" pitchFamily="34" charset="0"/>
              </a:rPr>
              <a:t>Successful</a:t>
            </a:r>
            <a:r>
              <a:rPr lang="fr-FR" altLang="fr-FR" dirty="0">
                <a:latin typeface="Arial" panose="020B0604020202020204" pitchFamily="34" charset="0"/>
              </a:rPr>
              <a:t> ingestion and </a:t>
            </a:r>
            <a:r>
              <a:rPr lang="fr-FR" altLang="fr-FR" dirty="0" err="1">
                <a:latin typeface="Arial" panose="020B0604020202020204" pitchFamily="34" charset="0"/>
              </a:rPr>
              <a:t>clinical</a:t>
            </a:r>
            <a:r>
              <a:rPr lang="fr-FR" altLang="fr-FR" dirty="0">
                <a:latin typeface="Arial" panose="020B0604020202020204" pitchFamily="34" charset="0"/>
              </a:rPr>
              <a:t> display of FHIR </a:t>
            </a:r>
            <a:r>
              <a:rPr lang="fr-FR" altLang="fr-FR" dirty="0" err="1">
                <a:latin typeface="Arial" panose="020B0604020202020204" pitchFamily="34" charset="0"/>
              </a:rPr>
              <a:t>resources</a:t>
            </a:r>
            <a:r>
              <a:rPr lang="fr-FR" altLang="fr-FR" dirty="0">
                <a:latin typeface="Arial" panose="020B0604020202020204" pitchFamily="34" charset="0"/>
              </a:rPr>
              <a:t> at the </a:t>
            </a:r>
            <a:r>
              <a:rPr lang="fr-FR" altLang="fr-FR" dirty="0" err="1">
                <a:latin typeface="Arial" panose="020B0604020202020204" pitchFamily="34" charset="0"/>
              </a:rPr>
              <a:t>receiving</a:t>
            </a:r>
            <a:r>
              <a:rPr lang="fr-FR" altLang="fr-FR" dirty="0">
                <a:latin typeface="Arial" panose="020B0604020202020204" pitchFamily="34" charset="0"/>
              </a:rPr>
              <a:t> site.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fr-FR" altLang="fr-FR" dirty="0">
                <a:latin typeface="Arial" panose="020B0604020202020204" pitchFamily="34" charset="0"/>
              </a:rPr>
              <a:t>End-to-end </a:t>
            </a:r>
            <a:r>
              <a:rPr lang="fr-FR" altLang="fr-FR" dirty="0" err="1">
                <a:latin typeface="Arial" panose="020B0604020202020204" pitchFamily="34" charset="0"/>
              </a:rPr>
              <a:t>interoperability</a:t>
            </a: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latin typeface="Arial" panose="020B0604020202020204" pitchFamily="34" charset="0"/>
              </a:rPr>
              <a:t>validated</a:t>
            </a: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latin typeface="Arial" panose="020B0604020202020204" pitchFamily="34" charset="0"/>
              </a:rPr>
              <a:t>between</a:t>
            </a: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latin typeface="Arial" panose="020B0604020202020204" pitchFamily="34" charset="0"/>
              </a:rPr>
              <a:t>hospitals</a:t>
            </a: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latin typeface="Arial" panose="020B0604020202020204" pitchFamily="34" charset="0"/>
              </a:rPr>
              <a:t>using</a:t>
            </a:r>
            <a:r>
              <a:rPr lang="fr-FR" altLang="fr-FR" dirty="0">
                <a:latin typeface="Arial" panose="020B0604020202020204" pitchFamily="34" charset="0"/>
              </a:rPr>
              <a:t> standard FHIR formats and SNOMED CT codes.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fr-FR" altLang="fr-FR" dirty="0">
                <a:latin typeface="Arial" panose="020B0604020202020204" pitchFamily="34" charset="0"/>
              </a:rPr>
              <a:t>Secure and </a:t>
            </a:r>
            <a:r>
              <a:rPr lang="fr-FR" altLang="fr-FR" dirty="0" err="1">
                <a:latin typeface="Arial" panose="020B0604020202020204" pitchFamily="34" charset="0"/>
              </a:rPr>
              <a:t>structured</a:t>
            </a: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latin typeface="Arial" panose="020B0604020202020204" pitchFamily="34" charset="0"/>
              </a:rPr>
              <a:t>clinical</a:t>
            </a:r>
            <a:r>
              <a:rPr lang="fr-FR" altLang="fr-FR" dirty="0">
                <a:latin typeface="Arial" panose="020B0604020202020204" pitchFamily="34" charset="0"/>
              </a:rPr>
              <a:t> data flow </a:t>
            </a:r>
            <a:r>
              <a:rPr lang="fr-FR" altLang="fr-FR" dirty="0" err="1">
                <a:latin typeface="Arial" panose="020B0604020202020204" pitchFamily="34" charset="0"/>
              </a:rPr>
              <a:t>confirmed</a:t>
            </a:r>
            <a:r>
              <a:rPr lang="fr-FR" altLang="fr-FR" dirty="0">
                <a:latin typeface="Arial" panose="020B0604020202020204" pitchFamily="34" charset="0"/>
              </a:rPr>
              <a:t>, </a:t>
            </a:r>
            <a:r>
              <a:rPr lang="fr-FR" altLang="fr-FR" dirty="0" err="1">
                <a:latin typeface="Arial" panose="020B0604020202020204" pitchFamily="34" charset="0"/>
              </a:rPr>
              <a:t>without</a:t>
            </a: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latin typeface="Arial" panose="020B0604020202020204" pitchFamily="34" charset="0"/>
              </a:rPr>
              <a:t>need</a:t>
            </a:r>
            <a:r>
              <a:rPr lang="fr-FR" altLang="fr-FR" dirty="0">
                <a:latin typeface="Arial" panose="020B0604020202020204" pitchFamily="34" charset="0"/>
              </a:rPr>
              <a:t> for </a:t>
            </a:r>
            <a:r>
              <a:rPr lang="fr-FR" altLang="fr-FR" dirty="0" err="1">
                <a:latin typeface="Arial" panose="020B0604020202020204" pitchFamily="34" charset="0"/>
              </a:rPr>
              <a:t>manual</a:t>
            </a:r>
            <a:r>
              <a:rPr lang="fr-FR" altLang="fr-FR" dirty="0">
                <a:latin typeface="Arial" panose="020B0604020202020204" pitchFamily="34" charset="0"/>
              </a:rPr>
              <a:t> file handling.</a:t>
            </a:r>
          </a:p>
          <a:p>
            <a:pPr marL="0" indent="0">
              <a:buNone/>
            </a:pPr>
            <a:endParaRPr lang="nl-BE" dirty="0">
              <a:latin typeface="Open Sans"/>
              <a:ea typeface="Open Sans"/>
              <a:cs typeface="Open San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3828C00-932F-63CE-C091-07C5DBF45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970697-AD87-4807-B496-E55323FB97B2}" type="slidenum">
              <a:rPr lang="nl-BE" smtClean="0"/>
              <a:pPr>
                <a:defRPr/>
              </a:pPr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66805649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3F9BE1-86C1-B570-51DD-5AC154B1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37" y="496166"/>
            <a:ext cx="10515600" cy="1325563"/>
          </a:xfrm>
        </p:spPr>
        <p:txBody>
          <a:bodyPr/>
          <a:lstStyle/>
          <a:p>
            <a:r>
              <a:rPr lang="nl-BE" dirty="0">
                <a:latin typeface="Open Sans"/>
                <a:ea typeface="Open Sans"/>
                <a:cs typeface="Open Sans"/>
              </a:rPr>
              <a:t>Scenario </a:t>
            </a:r>
            <a:r>
              <a:rPr lang="nl-BE" dirty="0" smtClean="0">
                <a:latin typeface="Open Sans"/>
                <a:ea typeface="Open Sans"/>
                <a:cs typeface="Open Sans"/>
              </a:rPr>
              <a:t>2 </a:t>
            </a:r>
            <a:r>
              <a:rPr lang="fr-BE" dirty="0"/>
              <a:t>Cross-</a:t>
            </a:r>
            <a:r>
              <a:rPr lang="fr-BE" dirty="0" err="1"/>
              <a:t>Hospital</a:t>
            </a:r>
            <a:r>
              <a:rPr lang="fr-BE" dirty="0"/>
              <a:t> IPS Exchange (International Patient </a:t>
            </a:r>
            <a:r>
              <a:rPr lang="fr-BE" dirty="0" err="1"/>
              <a:t>Summary</a:t>
            </a:r>
            <a:r>
              <a:rPr lang="fr-BE" dirty="0"/>
              <a:t>)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D655B8F-4EA0-E5DD-A7C9-23EEF029F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2" y="2115126"/>
            <a:ext cx="11711708" cy="4590473"/>
          </a:xfrm>
        </p:spPr>
        <p:txBody>
          <a:bodyPr/>
          <a:lstStyle/>
          <a:p>
            <a:pPr>
              <a:buNone/>
            </a:pPr>
            <a:r>
              <a:rPr lang="nl-BE" sz="2400" b="1" dirty="0" err="1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Problem</a:t>
            </a:r>
            <a:r>
              <a:rPr lang="nl-BE" sz="2400" b="1" dirty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nl-BE" sz="2400" b="1" dirty="0" smtClean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statement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fr-FR" altLang="fr-FR" sz="1800" dirty="0">
                <a:latin typeface="Arial" panose="020B0604020202020204" pitchFamily="34" charset="0"/>
              </a:rPr>
              <a:t/>
            </a:r>
            <a:br>
              <a:rPr lang="fr-FR" altLang="fr-FR" sz="1800" dirty="0">
                <a:latin typeface="Arial" panose="020B0604020202020204" pitchFamily="34" charset="0"/>
              </a:rPr>
            </a:br>
            <a:endParaRPr lang="fr-BE" sz="2400" dirty="0" smtClean="0"/>
          </a:p>
          <a:p>
            <a:pPr>
              <a:buNone/>
            </a:pPr>
            <a:r>
              <a:rPr lang="en-US" sz="2400" dirty="0"/>
              <a:t>Enable cross-site access to standardized International Patient Summary (IPS) data for improved care coordination.</a:t>
            </a:r>
            <a:endParaRPr lang="fr-BE" sz="2400" dirty="0" smtClean="0"/>
          </a:p>
          <a:p>
            <a:pPr>
              <a:buNone/>
            </a:pPr>
            <a:endParaRPr lang="fr-BE" sz="2400" dirty="0" smtClean="0"/>
          </a:p>
          <a:p>
            <a:pPr>
              <a:buNone/>
            </a:pPr>
            <a:r>
              <a:rPr lang="en-US" sz="2000" dirty="0"/>
              <a:t>Hospitals and test team involved: </a:t>
            </a:r>
            <a:r>
              <a:rPr lang="en-US" sz="2000" dirty="0" smtClean="0"/>
              <a:t>CNDG, </a:t>
            </a:r>
            <a:r>
              <a:rPr lang="en-US" sz="2000" dirty="0"/>
              <a:t>Grand </a:t>
            </a:r>
            <a:r>
              <a:rPr lang="en-US" sz="2000" dirty="0" err="1"/>
              <a:t>Hôpital</a:t>
            </a:r>
            <a:r>
              <a:rPr lang="en-US" sz="2000" dirty="0"/>
              <a:t> de Charleroi</a:t>
            </a:r>
            <a:endParaRPr lang="fr-BE" sz="2000" dirty="0"/>
          </a:p>
          <a:p>
            <a:pPr>
              <a:buNone/>
            </a:pPr>
            <a:endParaRPr lang="fr-BE" sz="2400" dirty="0"/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nl-BE" dirty="0">
              <a:latin typeface="Open Sans"/>
              <a:ea typeface="Open Sans"/>
              <a:cs typeface="Open San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B18D95-8C2C-FAB8-CF98-DB8B9136B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970697-AD87-4807-B496-E55323FB97B2}" type="slidenum">
              <a:rPr lang="nl-BE" smtClean="0"/>
              <a:pPr>
                <a:defRPr/>
              </a:pPr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28744641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0EC7-8AF1-7939-0F65-85391586E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73F20D-CEAB-42B2-3641-91BAA14A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Open Sans"/>
                <a:ea typeface="Open Sans"/>
                <a:cs typeface="Open Sans"/>
              </a:rPr>
              <a:t>Scenario </a:t>
            </a:r>
            <a:r>
              <a:rPr lang="nl-BE" dirty="0" smtClean="0">
                <a:latin typeface="Open Sans"/>
                <a:ea typeface="Open Sans"/>
                <a:cs typeface="Open Sans"/>
              </a:rPr>
              <a:t>2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30DE9B0-469D-5C75-BEB7-A213C24B7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546" y="1932126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nl-BE" sz="2400" b="1" dirty="0" err="1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Specific</a:t>
            </a:r>
            <a:r>
              <a:rPr lang="nl-BE" sz="2400" b="1" dirty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nl-BE" sz="2400" b="1" dirty="0" smtClean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scope</a:t>
            </a: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</a:endParaRPr>
          </a:p>
          <a:p>
            <a:pPr marL="0" indent="0">
              <a:buNone/>
            </a:pPr>
            <a:endParaRPr lang="nl-BE" dirty="0">
              <a:latin typeface="Open Sans"/>
              <a:ea typeface="Open Sans"/>
              <a:cs typeface="Open San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2775EAD-7018-12A4-3191-4C80F592B1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970697-AD87-4807-B496-E55323FB97B2}" type="slidenum">
              <a:rPr lang="nl-BE" smtClean="0"/>
              <a:pPr>
                <a:defRPr/>
              </a:pPr>
              <a:t>8</a:t>
            </a:fld>
            <a:endParaRPr lang="nl-BE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05691" y="2608879"/>
            <a:ext cx="1150850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Sender: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CNDG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Receiver</a:t>
            </a:r>
            <a:r>
              <a:rPr kumimoji="0" lang="fr-FR" alt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Grand Hôpital de Charleroi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FHIR </a:t>
            </a:r>
            <a:r>
              <a:rPr kumimoji="0" lang="fr-FR" altLang="fr-FR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Resources</a:t>
            </a:r>
            <a:r>
              <a:rPr kumimoji="0" lang="fr-FR" alt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fr-FR" altLang="fr-FR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within</a:t>
            </a:r>
            <a:r>
              <a:rPr kumimoji="0" lang="fr-FR" alt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Bundle type « document »):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Patient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Condition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AllergyIntolerance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MedicationStatement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fr-FR" alt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Procedure</a:t>
            </a:r>
            <a:r>
              <a:rPr kumimoji="0" lang="fr-FR" alt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endParaRPr kumimoji="0" lang="fr-FR" alt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521813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9831A-B709-75E0-2784-71522F3B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EEA0AA-0F58-A4E5-F392-573E28C64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Open Sans"/>
                <a:ea typeface="Open Sans"/>
                <a:cs typeface="Open Sans"/>
              </a:rPr>
              <a:t>Scenario </a:t>
            </a:r>
            <a:r>
              <a:rPr lang="nl-BE" dirty="0" smtClean="0">
                <a:latin typeface="Open Sans"/>
                <a:ea typeface="Open Sans"/>
                <a:cs typeface="Open Sans"/>
              </a:rPr>
              <a:t>2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65D02EC-9223-AEB4-54DA-2A8166697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1690688"/>
            <a:ext cx="11812588" cy="4239057"/>
          </a:xfrm>
        </p:spPr>
        <p:txBody>
          <a:bodyPr/>
          <a:lstStyle/>
          <a:p>
            <a:pPr>
              <a:buNone/>
            </a:pPr>
            <a:r>
              <a:rPr lang="nl-BE" sz="2400" b="1" dirty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Test of </a:t>
            </a:r>
            <a:r>
              <a:rPr lang="nl-BE" sz="2400" b="1" dirty="0" smtClean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concept</a:t>
            </a: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r>
              <a:rPr lang="fr-FR" altLang="fr-FR" sz="2400" dirty="0" err="1">
                <a:latin typeface="Arial" panose="020B0604020202020204" pitchFamily="34" charset="0"/>
              </a:rPr>
              <a:t>Enable</a:t>
            </a:r>
            <a:r>
              <a:rPr lang="fr-FR" altLang="fr-FR" sz="2400" dirty="0">
                <a:latin typeface="Arial" panose="020B0604020202020204" pitchFamily="34" charset="0"/>
              </a:rPr>
              <a:t> "pull" </a:t>
            </a:r>
            <a:r>
              <a:rPr lang="fr-FR" altLang="fr-FR" sz="2400" dirty="0" err="1">
                <a:latin typeface="Arial" panose="020B0604020202020204" pitchFamily="34" charset="0"/>
              </a:rPr>
              <a:t>access</a:t>
            </a:r>
            <a:r>
              <a:rPr lang="fr-FR" altLang="fr-FR" sz="2400" dirty="0">
                <a:latin typeface="Arial" panose="020B0604020202020204" pitchFamily="34" charset="0"/>
              </a:rPr>
              <a:t> to IPS data </a:t>
            </a:r>
            <a:r>
              <a:rPr lang="fr-FR" altLang="fr-FR" sz="2400" dirty="0" err="1">
                <a:latin typeface="Arial" panose="020B0604020202020204" pitchFamily="34" charset="0"/>
              </a:rPr>
              <a:t>using</a:t>
            </a:r>
            <a:r>
              <a:rPr lang="fr-FR" altLang="fr-FR" sz="2400" dirty="0">
                <a:latin typeface="Arial" panose="020B0604020202020204" pitchFamily="34" charset="0"/>
              </a:rPr>
              <a:t> </a:t>
            </a:r>
            <a:r>
              <a:rPr lang="fr-FR" altLang="fr-FR" sz="2400" b="1" dirty="0">
                <a:latin typeface="Arial" panose="020B0604020202020204" pitchFamily="34" charset="0"/>
              </a:rPr>
              <a:t>the FHIR </a:t>
            </a:r>
            <a:r>
              <a:rPr lang="fr-FR" altLang="fr-FR" sz="2400" b="1" dirty="0">
                <a:latin typeface="Arial Unicode MS"/>
              </a:rPr>
              <a:t>$</a:t>
            </a:r>
            <a:r>
              <a:rPr lang="fr-FR" altLang="fr-FR" sz="2400" b="1" dirty="0" err="1">
                <a:latin typeface="Arial Unicode MS"/>
              </a:rPr>
              <a:t>summary</a:t>
            </a:r>
            <a:r>
              <a:rPr lang="fr-FR" altLang="fr-FR" sz="2400" b="1" dirty="0"/>
              <a:t> </a:t>
            </a:r>
            <a:r>
              <a:rPr lang="fr-FR" altLang="fr-FR" sz="2400" b="1" dirty="0" err="1"/>
              <a:t>operation</a:t>
            </a:r>
            <a:r>
              <a:rPr lang="fr-FR" altLang="fr-FR" sz="2400" b="1" dirty="0"/>
              <a:t> </a:t>
            </a:r>
            <a:endParaRPr lang="fr-FR" altLang="fr-FR" sz="2400" b="1" dirty="0" smtClean="0"/>
          </a:p>
          <a:p>
            <a:pPr>
              <a:buNone/>
            </a:pPr>
            <a:r>
              <a:rPr lang="fr-FR" altLang="fr-FR" sz="2400" b="1" dirty="0"/>
              <a:t> </a:t>
            </a:r>
            <a:r>
              <a:rPr lang="fr-FR" altLang="fr-FR" sz="2400" b="1" dirty="0" smtClean="0"/>
              <a:t>                       </a:t>
            </a:r>
            <a:r>
              <a:rPr lang="fr-FR" altLang="fr-FR" sz="2400" dirty="0" smtClean="0"/>
              <a:t>via </a:t>
            </a:r>
            <a:r>
              <a:rPr lang="fr-FR" altLang="fr-FR" sz="2400" dirty="0"/>
              <a:t>a </a:t>
            </a:r>
            <a:r>
              <a:rPr lang="fr-FR" altLang="fr-FR" sz="2400" dirty="0" err="1"/>
              <a:t>secure</a:t>
            </a:r>
            <a:r>
              <a:rPr lang="fr-FR" altLang="fr-FR" sz="2400" dirty="0"/>
              <a:t> </a:t>
            </a:r>
            <a:r>
              <a:rPr lang="fr-FR" altLang="fr-FR" sz="2400" dirty="0" smtClean="0"/>
              <a:t>API call </a:t>
            </a:r>
            <a:r>
              <a:rPr lang="fr-FR" altLang="fr-FR" sz="2400" dirty="0"/>
              <a:t>(</a:t>
            </a:r>
            <a:r>
              <a:rPr lang="fr-FR" altLang="fr-FR" sz="2400" dirty="0">
                <a:latin typeface="Arial Unicode MS"/>
              </a:rPr>
              <a:t>POST /Patient/{id}/$</a:t>
            </a:r>
            <a:r>
              <a:rPr lang="fr-FR" altLang="fr-FR" sz="2400" dirty="0" err="1">
                <a:latin typeface="Arial Unicode MS"/>
              </a:rPr>
              <a:t>summary</a:t>
            </a:r>
            <a:r>
              <a:rPr lang="fr-FR" altLang="fr-FR" sz="2400" dirty="0" smtClean="0"/>
              <a:t>) </a:t>
            </a:r>
          </a:p>
          <a:p>
            <a:pPr>
              <a:buNone/>
            </a:pPr>
            <a:endParaRPr lang="fr-FR" altLang="fr-FR" sz="2400" dirty="0"/>
          </a:p>
          <a:p>
            <a:pPr>
              <a:buNone/>
            </a:pPr>
            <a:r>
              <a:rPr lang="fr-FR" altLang="fr-FR" sz="2400" dirty="0" smtClean="0"/>
              <a:t>The </a:t>
            </a:r>
            <a:r>
              <a:rPr lang="fr-FR" altLang="fr-FR" sz="2400" dirty="0" err="1"/>
              <a:t>summary</a:t>
            </a:r>
            <a:r>
              <a:rPr lang="fr-FR" altLang="fr-FR" sz="2400" dirty="0"/>
              <a:t> </a:t>
            </a:r>
            <a:r>
              <a:rPr lang="fr-FR" altLang="fr-FR" sz="2400" dirty="0" err="1"/>
              <a:t>is</a:t>
            </a:r>
            <a:r>
              <a:rPr lang="fr-FR" altLang="fr-FR" sz="2400" dirty="0"/>
              <a:t> </a:t>
            </a:r>
            <a:r>
              <a:rPr lang="fr-FR" altLang="fr-FR" sz="2400" dirty="0" err="1"/>
              <a:t>transmitted</a:t>
            </a:r>
            <a:r>
              <a:rPr lang="fr-FR" altLang="fr-FR" sz="2400" dirty="0"/>
              <a:t> as a </a:t>
            </a:r>
            <a:r>
              <a:rPr lang="fr-FR" altLang="fr-FR" sz="2400" b="1" dirty="0"/>
              <a:t>FHIR </a:t>
            </a:r>
            <a:r>
              <a:rPr lang="fr-FR" altLang="fr-FR" sz="2400" b="1" dirty="0">
                <a:latin typeface="Arial Unicode MS"/>
              </a:rPr>
              <a:t>Bundle</a:t>
            </a:r>
            <a:r>
              <a:rPr lang="fr-FR" altLang="fr-FR" sz="2400" b="1" dirty="0"/>
              <a:t> of type </a:t>
            </a:r>
            <a:r>
              <a:rPr lang="fr-FR" altLang="fr-FR" sz="2400" b="1" dirty="0" smtClean="0"/>
              <a:t>« </a:t>
            </a:r>
            <a:r>
              <a:rPr lang="fr-FR" altLang="fr-FR" sz="2400" b="1" dirty="0" smtClean="0">
                <a:latin typeface="Arial Unicode MS"/>
              </a:rPr>
              <a:t>document »</a:t>
            </a:r>
            <a:r>
              <a:rPr lang="fr-FR" altLang="fr-FR" sz="2400" dirty="0" smtClean="0"/>
              <a:t>, </a:t>
            </a:r>
            <a:r>
              <a:rPr lang="fr-FR" altLang="fr-FR" sz="2400" dirty="0" err="1"/>
              <a:t>including</a:t>
            </a:r>
            <a:r>
              <a:rPr lang="fr-FR" altLang="fr-FR" sz="2400" dirty="0"/>
              <a:t> key </a:t>
            </a:r>
            <a:r>
              <a:rPr lang="fr-FR" altLang="fr-FR" sz="2400" dirty="0" err="1"/>
              <a:t>clinical</a:t>
            </a:r>
            <a:r>
              <a:rPr lang="fr-FR" altLang="fr-FR" sz="2400" dirty="0"/>
              <a:t> data. </a:t>
            </a:r>
            <a:endParaRPr lang="fr-FR" altLang="fr-FR" sz="2400" dirty="0">
              <a:latin typeface="Arial" panose="020B0604020202020204" pitchFamily="34" charset="0"/>
            </a:endParaRPr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</a:endParaRPr>
          </a:p>
          <a:p>
            <a:pPr marL="0" indent="0">
              <a:buNone/>
            </a:pPr>
            <a:endParaRPr lang="nl-BE" dirty="0">
              <a:latin typeface="Open Sans"/>
              <a:ea typeface="Open Sans"/>
              <a:cs typeface="Open San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07F50F7-62D5-A601-DF73-198762D24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970697-AD87-4807-B496-E55323FB97B2}" type="slidenum">
              <a:rPr lang="nl-BE" smtClean="0"/>
              <a:pPr>
                <a:defRPr/>
              </a:pPr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3044613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48C61-B3D4-2F0D-055B-AF9A72E2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B54F2-9492-AA6D-314B-6C30FBB60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Open Sans"/>
                <a:ea typeface="Open Sans"/>
                <a:cs typeface="Open Sans"/>
              </a:rPr>
              <a:t>Scenario </a:t>
            </a:r>
            <a:r>
              <a:rPr lang="nl-BE" dirty="0" smtClean="0">
                <a:latin typeface="Open Sans"/>
                <a:ea typeface="Open Sans"/>
                <a:cs typeface="Open Sans"/>
              </a:rPr>
              <a:t>2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1CD6D5-42E4-74A2-2D03-C9C10272F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255" y="1690688"/>
            <a:ext cx="11552694" cy="4351338"/>
          </a:xfrm>
        </p:spPr>
        <p:txBody>
          <a:bodyPr/>
          <a:lstStyle/>
          <a:p>
            <a:pPr>
              <a:buNone/>
            </a:pPr>
            <a:r>
              <a:rPr lang="nl-BE" sz="2400" b="1" dirty="0" smtClean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Delivery</a:t>
            </a: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</a:endParaRPr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fr-FR" altLang="fr-FR" sz="2400" dirty="0">
                <a:latin typeface="Arial" panose="020B0604020202020204" pitchFamily="34" charset="0"/>
              </a:rPr>
              <a:t>IPS FHIR document </a:t>
            </a:r>
            <a:r>
              <a:rPr lang="fr-FR" altLang="fr-FR" sz="2400" dirty="0" err="1">
                <a:latin typeface="Arial" panose="020B0604020202020204" pitchFamily="34" charset="0"/>
              </a:rPr>
              <a:t>successfully</a:t>
            </a:r>
            <a:r>
              <a:rPr lang="fr-FR" altLang="fr-FR" sz="2400" dirty="0">
                <a:latin typeface="Arial" panose="020B0604020202020204" pitchFamily="34" charset="0"/>
              </a:rPr>
              <a:t> </a:t>
            </a:r>
            <a:r>
              <a:rPr lang="fr-FR" altLang="fr-FR" sz="2400" dirty="0" err="1">
                <a:latin typeface="Arial" panose="020B0604020202020204" pitchFamily="34" charset="0"/>
              </a:rPr>
              <a:t>accessed</a:t>
            </a:r>
            <a:r>
              <a:rPr lang="fr-FR" altLang="fr-FR" sz="2400" dirty="0">
                <a:latin typeface="Arial" panose="020B0604020202020204" pitchFamily="34" charset="0"/>
              </a:rPr>
              <a:t> and </a:t>
            </a:r>
            <a:r>
              <a:rPr lang="fr-FR" altLang="fr-FR" sz="2400" dirty="0" err="1">
                <a:latin typeface="Arial" panose="020B0604020202020204" pitchFamily="34" charset="0"/>
              </a:rPr>
              <a:t>rendered</a:t>
            </a:r>
            <a:r>
              <a:rPr lang="fr-FR" altLang="fr-FR" sz="2400" dirty="0">
                <a:latin typeface="Arial" panose="020B0604020202020204" pitchFamily="34" charset="0"/>
              </a:rPr>
              <a:t> </a:t>
            </a:r>
            <a:r>
              <a:rPr lang="fr-FR" altLang="fr-FR" sz="2400" dirty="0" err="1">
                <a:latin typeface="Arial" panose="020B0604020202020204" pitchFamily="34" charset="0"/>
              </a:rPr>
              <a:t>through</a:t>
            </a:r>
            <a:r>
              <a:rPr lang="fr-FR" altLang="fr-FR" sz="2400" dirty="0">
                <a:latin typeface="Arial" panose="020B0604020202020204" pitchFamily="34" charset="0"/>
              </a:rPr>
              <a:t> </a:t>
            </a:r>
            <a:endParaRPr lang="fr-FR" altLang="fr-FR" sz="2400" dirty="0" smtClean="0">
              <a:latin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fr-FR" altLang="fr-FR" sz="2400" dirty="0">
                <a:latin typeface="Arial" panose="020B0604020202020204" pitchFamily="34" charset="0"/>
              </a:rPr>
              <a:t> </a:t>
            </a:r>
            <a:r>
              <a:rPr lang="fr-FR" altLang="fr-FR" sz="2400" dirty="0" smtClean="0">
                <a:latin typeface="Arial" panose="020B0604020202020204" pitchFamily="34" charset="0"/>
              </a:rPr>
              <a:t>                                 a </a:t>
            </a:r>
            <a:r>
              <a:rPr lang="fr-FR" altLang="fr-FR" sz="2400" dirty="0">
                <a:latin typeface="Arial" panose="020B0604020202020204" pitchFamily="34" charset="0"/>
              </a:rPr>
              <a:t>front-end </a:t>
            </a:r>
            <a:r>
              <a:rPr lang="fr-FR" altLang="fr-FR" sz="2400" dirty="0" err="1" smtClean="0">
                <a:latin typeface="Arial" panose="020B0604020202020204" pitchFamily="34" charset="0"/>
              </a:rPr>
              <a:t>clinical</a:t>
            </a:r>
            <a:r>
              <a:rPr lang="fr-FR" altLang="fr-FR" sz="2400" dirty="0" smtClean="0">
                <a:latin typeface="Arial" panose="020B0604020202020204" pitchFamily="34" charset="0"/>
              </a:rPr>
              <a:t> </a:t>
            </a:r>
            <a:r>
              <a:rPr lang="fr-FR" altLang="fr-FR" sz="2400" dirty="0" err="1" smtClean="0">
                <a:latin typeface="Arial" panose="020B0604020202020204" pitchFamily="34" charset="0"/>
              </a:rPr>
              <a:t>viewer</a:t>
            </a:r>
            <a:r>
              <a:rPr lang="fr-FR" altLang="fr-FR" sz="2400" dirty="0" smtClean="0">
                <a:latin typeface="Arial" panose="020B0604020202020204" pitchFamily="34" charset="0"/>
              </a:rPr>
              <a:t>. </a:t>
            </a:r>
            <a:endParaRPr lang="fr-FR" altLang="fr-FR" sz="2400" dirty="0">
              <a:latin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fr-FR" altLang="fr-FR" sz="2400" dirty="0">
                <a:latin typeface="Arial" panose="020B0604020202020204" pitchFamily="34" charset="0"/>
              </a:rPr>
              <a:t>All </a:t>
            </a:r>
            <a:r>
              <a:rPr lang="fr-FR" altLang="fr-FR" sz="2400" dirty="0" err="1">
                <a:latin typeface="Arial" panose="020B0604020202020204" pitchFamily="34" charset="0"/>
              </a:rPr>
              <a:t>critical</a:t>
            </a:r>
            <a:r>
              <a:rPr lang="fr-FR" altLang="fr-FR" sz="2400" dirty="0">
                <a:latin typeface="Arial" panose="020B0604020202020204" pitchFamily="34" charset="0"/>
              </a:rPr>
              <a:t> patient </a:t>
            </a:r>
            <a:r>
              <a:rPr lang="fr-FR" altLang="fr-FR" sz="2400" dirty="0" err="1">
                <a:latin typeface="Arial" panose="020B0604020202020204" pitchFamily="34" charset="0"/>
              </a:rPr>
              <a:t>summary</a:t>
            </a:r>
            <a:r>
              <a:rPr lang="fr-FR" altLang="fr-FR" sz="2400" dirty="0">
                <a:latin typeface="Arial" panose="020B0604020202020204" pitchFamily="34" charset="0"/>
              </a:rPr>
              <a:t> data </a:t>
            </a:r>
            <a:r>
              <a:rPr lang="fr-FR" altLang="fr-FR" sz="2400" dirty="0" err="1">
                <a:latin typeface="Arial" panose="020B0604020202020204" pitchFamily="34" charset="0"/>
              </a:rPr>
              <a:t>available</a:t>
            </a:r>
            <a:r>
              <a:rPr lang="fr-FR" altLang="fr-FR" sz="2400" dirty="0">
                <a:latin typeface="Arial" panose="020B0604020202020204" pitchFamily="34" charset="0"/>
              </a:rPr>
              <a:t> in a </a:t>
            </a:r>
            <a:r>
              <a:rPr lang="fr-FR" altLang="fr-FR" sz="2400" dirty="0" err="1">
                <a:latin typeface="Arial" panose="020B0604020202020204" pitchFamily="34" charset="0"/>
              </a:rPr>
              <a:t>standardized</a:t>
            </a:r>
            <a:r>
              <a:rPr lang="fr-FR" altLang="fr-FR" sz="2400" dirty="0">
                <a:latin typeface="Arial" panose="020B0604020202020204" pitchFamily="34" charset="0"/>
              </a:rPr>
              <a:t> format.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fr-FR" altLang="fr-FR" sz="2400" dirty="0" err="1">
                <a:latin typeface="Arial" panose="020B0604020202020204" pitchFamily="34" charset="0"/>
              </a:rPr>
              <a:t>Confirmed</a:t>
            </a:r>
            <a:r>
              <a:rPr lang="fr-FR" altLang="fr-FR" sz="2400" dirty="0">
                <a:latin typeface="Arial" panose="020B0604020202020204" pitchFamily="34" charset="0"/>
              </a:rPr>
              <a:t> </a:t>
            </a:r>
            <a:r>
              <a:rPr lang="fr-FR" altLang="fr-FR" sz="2400" dirty="0" err="1">
                <a:latin typeface="Arial" panose="020B0604020202020204" pitchFamily="34" charset="0"/>
              </a:rPr>
              <a:t>interoperability</a:t>
            </a:r>
            <a:r>
              <a:rPr lang="fr-FR" altLang="fr-FR" sz="2400" dirty="0">
                <a:latin typeface="Arial" panose="020B0604020202020204" pitchFamily="34" charset="0"/>
              </a:rPr>
              <a:t> </a:t>
            </a:r>
            <a:r>
              <a:rPr lang="fr-FR" altLang="fr-FR" sz="2400" dirty="0" err="1">
                <a:latin typeface="Arial" panose="020B0604020202020204" pitchFamily="34" charset="0"/>
              </a:rPr>
              <a:t>with</a:t>
            </a:r>
            <a:r>
              <a:rPr lang="fr-FR" altLang="fr-FR" sz="2400" dirty="0">
                <a:latin typeface="Arial" panose="020B0604020202020204" pitchFamily="34" charset="0"/>
              </a:rPr>
              <a:t> full IPS </a:t>
            </a:r>
            <a:r>
              <a:rPr lang="fr-FR" altLang="fr-FR" sz="2400" dirty="0" err="1">
                <a:latin typeface="Arial" panose="020B0604020202020204" pitchFamily="34" charset="0"/>
              </a:rPr>
              <a:t>resource</a:t>
            </a:r>
            <a:r>
              <a:rPr lang="fr-FR" altLang="fr-FR" sz="2400" dirty="0">
                <a:latin typeface="Arial" panose="020B0604020202020204" pitchFamily="34" charset="0"/>
              </a:rPr>
              <a:t> ingestion and </a:t>
            </a:r>
            <a:r>
              <a:rPr lang="fr-FR" altLang="fr-FR" sz="2400" dirty="0" err="1">
                <a:latin typeface="Arial" panose="020B0604020202020204" pitchFamily="34" charset="0"/>
              </a:rPr>
              <a:t>adherence</a:t>
            </a:r>
            <a:r>
              <a:rPr lang="fr-FR" altLang="fr-FR" sz="2400" dirty="0">
                <a:latin typeface="Arial" panose="020B0604020202020204" pitchFamily="34" charset="0"/>
              </a:rPr>
              <a:t> </a:t>
            </a:r>
            <a:endParaRPr lang="fr-FR" altLang="fr-FR" sz="2400" dirty="0" smtClean="0">
              <a:latin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fr-FR" altLang="fr-FR" sz="2400" dirty="0">
                <a:latin typeface="Arial" panose="020B0604020202020204" pitchFamily="34" charset="0"/>
              </a:rPr>
              <a:t> </a:t>
            </a:r>
            <a:r>
              <a:rPr lang="fr-FR" altLang="fr-FR" sz="2400" dirty="0" smtClean="0">
                <a:latin typeface="Arial" panose="020B0604020202020204" pitchFamily="34" charset="0"/>
              </a:rPr>
              <a:t> to </a:t>
            </a:r>
            <a:r>
              <a:rPr lang="fr-FR" altLang="fr-FR" sz="2400" dirty="0">
                <a:latin typeface="Arial" panose="020B0604020202020204" pitchFamily="34" charset="0"/>
              </a:rPr>
              <a:t>IPS profiles.</a:t>
            </a:r>
          </a:p>
          <a:p>
            <a:pPr marL="0" indent="0"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 marL="0" indent="0">
              <a:buNone/>
            </a:pPr>
            <a:endParaRPr lang="nl-BE" dirty="0">
              <a:latin typeface="Open Sans"/>
              <a:ea typeface="Open Sans"/>
              <a:cs typeface="Open San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3828C00-932F-63CE-C091-07C5DBF45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970697-AD87-4807-B496-E55323FB97B2}" type="slidenum">
              <a:rPr lang="nl-BE" smtClean="0"/>
              <a:pPr>
                <a:defRPr/>
              </a:pPr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25597004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3F9BE1-86C1-B570-51DD-5AC154B1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535709"/>
            <a:ext cx="11859489" cy="1274618"/>
          </a:xfrm>
        </p:spPr>
        <p:txBody>
          <a:bodyPr/>
          <a:lstStyle/>
          <a:p>
            <a:r>
              <a:rPr lang="nl-BE" sz="4000" dirty="0">
                <a:latin typeface="Open Sans"/>
                <a:ea typeface="Open Sans"/>
                <a:cs typeface="Open Sans"/>
              </a:rPr>
              <a:t>Scenario </a:t>
            </a:r>
            <a:r>
              <a:rPr lang="nl-BE" sz="4000" dirty="0" smtClean="0">
                <a:latin typeface="Open Sans"/>
                <a:ea typeface="Open Sans"/>
                <a:cs typeface="Open Sans"/>
              </a:rPr>
              <a:t>3 </a:t>
            </a:r>
            <a:r>
              <a:rPr lang="en-US" sz="4000" dirty="0"/>
              <a:t>Frailty Evaluation Using SEGA &amp; CQL</a:t>
            </a:r>
            <a:endParaRPr lang="nl-BE" sz="400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D655B8F-4EA0-E5DD-A7C9-23EEF029F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2" y="2115126"/>
            <a:ext cx="11711708" cy="4590473"/>
          </a:xfrm>
        </p:spPr>
        <p:txBody>
          <a:bodyPr/>
          <a:lstStyle/>
          <a:p>
            <a:pPr>
              <a:buNone/>
            </a:pPr>
            <a:r>
              <a:rPr lang="nl-BE" sz="2400" b="1" dirty="0" err="1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Problem</a:t>
            </a:r>
            <a:r>
              <a:rPr lang="nl-BE" sz="2400" b="1" dirty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nl-BE" sz="2400" b="1" dirty="0" smtClean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statement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fr-FR" altLang="fr-FR" sz="1800" dirty="0">
                <a:latin typeface="Arial" panose="020B0604020202020204" pitchFamily="34" charset="0"/>
              </a:rPr>
              <a:t/>
            </a:r>
            <a:br>
              <a:rPr lang="fr-FR" altLang="fr-FR" sz="1800" dirty="0">
                <a:latin typeface="Arial" panose="020B0604020202020204" pitchFamily="34" charset="0"/>
              </a:rPr>
            </a:br>
            <a:endParaRPr lang="fr-BE" sz="2400" dirty="0" smtClean="0"/>
          </a:p>
          <a:p>
            <a:pPr>
              <a:buNone/>
            </a:pPr>
            <a:r>
              <a:rPr lang="en-US" sz="2400" dirty="0"/>
              <a:t>Evaluate geriatric frailty using the SEGA scale and share structured results with clinical systems to assist decision-making.</a:t>
            </a:r>
            <a:endParaRPr lang="fr-BE" sz="2400" dirty="0"/>
          </a:p>
          <a:p>
            <a:pPr>
              <a:buNone/>
            </a:pPr>
            <a:endParaRPr lang="fr-BE" sz="2400" dirty="0" smtClean="0"/>
          </a:p>
          <a:p>
            <a:pPr>
              <a:buNone/>
            </a:pPr>
            <a:r>
              <a:rPr lang="en-US" sz="2400" dirty="0"/>
              <a:t>Hospitals and test team involved: </a:t>
            </a:r>
            <a:r>
              <a:rPr lang="en-US" sz="2400" dirty="0" smtClean="0"/>
              <a:t>CH </a:t>
            </a:r>
            <a:r>
              <a:rPr lang="en-US" sz="2400" smtClean="0"/>
              <a:t>Mouscron, CNDG</a:t>
            </a:r>
            <a:r>
              <a:rPr lang="en-US" sz="2400" dirty="0"/>
              <a:t>, Grand </a:t>
            </a:r>
            <a:r>
              <a:rPr lang="en-US" sz="2400" dirty="0" err="1"/>
              <a:t>Hôpital</a:t>
            </a:r>
            <a:r>
              <a:rPr lang="en-US" sz="2400" dirty="0"/>
              <a:t> de Charleroi</a:t>
            </a:r>
            <a:endParaRPr lang="fr-BE" sz="2400" dirty="0"/>
          </a:p>
          <a:p>
            <a:pPr>
              <a:buNone/>
            </a:pPr>
            <a:endParaRPr lang="fr-BE" sz="2400" dirty="0"/>
          </a:p>
          <a:p>
            <a:pPr>
              <a:buNone/>
            </a:pPr>
            <a:endParaRPr lang="fr-BE" sz="2400" dirty="0"/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nl-BE" dirty="0">
              <a:latin typeface="Open Sans"/>
              <a:ea typeface="Open Sans"/>
              <a:cs typeface="Open San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B18D95-8C2C-FAB8-CF98-DB8B9136B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970697-AD87-4807-B496-E55323FB97B2}" type="slidenum">
              <a:rPr lang="nl-BE" smtClean="0"/>
              <a:pPr>
                <a:defRPr/>
              </a:pPr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8411685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0EC7-8AF1-7939-0F65-85391586E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73F20D-CEAB-42B2-3641-91BAA14A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Open Sans"/>
                <a:ea typeface="Open Sans"/>
                <a:cs typeface="Open Sans"/>
              </a:rPr>
              <a:t>Scenario 3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30DE9B0-469D-5C75-BEB7-A213C24B7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546" y="1932126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nl-BE" sz="2400" b="1" dirty="0" err="1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Specific</a:t>
            </a:r>
            <a:r>
              <a:rPr lang="nl-BE" sz="2400" b="1" dirty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nl-BE" sz="2400" b="1" dirty="0" smtClean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scope</a:t>
            </a: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fr-FR" altLang="fr-FR" b="1" dirty="0" err="1">
                <a:latin typeface="Arial" panose="020B0604020202020204" pitchFamily="34" charset="0"/>
              </a:rPr>
              <a:t>Senders</a:t>
            </a:r>
            <a:r>
              <a:rPr lang="fr-FR" altLang="fr-FR" b="1" dirty="0">
                <a:latin typeface="Arial" panose="020B0604020202020204" pitchFamily="34" charset="0"/>
              </a:rPr>
              <a:t>:</a:t>
            </a:r>
            <a:r>
              <a:rPr lang="fr-FR" altLang="fr-FR" dirty="0">
                <a:latin typeface="Arial" panose="020B0604020202020204" pitchFamily="34" charset="0"/>
              </a:rPr>
              <a:t> CH Mouscron, CNDG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fr-FR" altLang="fr-FR" b="1" dirty="0" err="1">
                <a:latin typeface="Arial" panose="020B0604020202020204" pitchFamily="34" charset="0"/>
              </a:rPr>
              <a:t>Receiver</a:t>
            </a:r>
            <a:r>
              <a:rPr lang="fr-FR" altLang="fr-FR" b="1" dirty="0">
                <a:latin typeface="Arial" panose="020B0604020202020204" pitchFamily="34" charset="0"/>
              </a:rPr>
              <a:t>:</a:t>
            </a:r>
            <a:r>
              <a:rPr lang="fr-FR" altLang="fr-FR" dirty="0">
                <a:latin typeface="Arial" panose="020B0604020202020204" pitchFamily="34" charset="0"/>
              </a:rPr>
              <a:t> Grand Hôpital de Charleroi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fr-FR" altLang="fr-FR" b="1" dirty="0">
                <a:latin typeface="Arial" panose="020B0604020202020204" pitchFamily="34" charset="0"/>
              </a:rPr>
              <a:t>FHIR </a:t>
            </a:r>
            <a:r>
              <a:rPr lang="fr-FR" altLang="fr-FR" b="1" dirty="0" err="1">
                <a:latin typeface="Arial" panose="020B0604020202020204" pitchFamily="34" charset="0"/>
              </a:rPr>
              <a:t>Resources</a:t>
            </a:r>
            <a:r>
              <a:rPr lang="fr-FR" altLang="fr-FR" b="1" dirty="0">
                <a:latin typeface="Arial" panose="020B0604020202020204" pitchFamily="34" charset="0"/>
              </a:rPr>
              <a:t>:</a:t>
            </a:r>
            <a:endParaRPr lang="fr-FR" altLang="fr-FR" dirty="0">
              <a:latin typeface="Arial" panose="020B0604020202020204" pitchFamily="34" charset="0"/>
            </a:endParaRPr>
          </a:p>
          <a:p>
            <a:pPr marL="457200" lvl="1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fr-FR" altLang="fr-FR" dirty="0">
                <a:latin typeface="Arial" panose="020B0604020202020204" pitchFamily="34" charset="0"/>
              </a:rPr>
              <a:t>Sent and </a:t>
            </a:r>
            <a:r>
              <a:rPr lang="fr-FR" altLang="fr-FR" dirty="0" err="1">
                <a:latin typeface="Arial" panose="020B0604020202020204" pitchFamily="34" charset="0"/>
              </a:rPr>
              <a:t>received</a:t>
            </a:r>
            <a:r>
              <a:rPr lang="fr-FR" altLang="fr-FR" dirty="0" smtClean="0">
                <a:latin typeface="Arial" panose="020B0604020202020204" pitchFamily="34" charset="0"/>
              </a:rPr>
              <a:t>: </a:t>
            </a:r>
            <a:r>
              <a:rPr lang="fr-FR" altLang="fr-FR" dirty="0" err="1" smtClean="0">
                <a:latin typeface="Arial" panose="020B0604020202020204" pitchFamily="34" charset="0"/>
              </a:rPr>
              <a:t>Parameters</a:t>
            </a: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</a:endParaRPr>
          </a:p>
          <a:p>
            <a:pPr marL="0" indent="0">
              <a:buNone/>
            </a:pPr>
            <a:endParaRPr lang="nl-BE" dirty="0">
              <a:latin typeface="Open Sans"/>
              <a:ea typeface="Open Sans"/>
              <a:cs typeface="Open San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2775EAD-7018-12A4-3191-4C80F592B1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970697-AD87-4807-B496-E55323FB97B2}" type="slidenum">
              <a:rPr lang="nl-BE" smtClean="0"/>
              <a:pPr>
                <a:defRPr/>
              </a:pPr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54371952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9831A-B709-75E0-2784-71522F3B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EEA0AA-0F58-A4E5-F392-573E28C64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Open Sans"/>
                <a:ea typeface="Open Sans"/>
                <a:cs typeface="Open Sans"/>
              </a:rPr>
              <a:t>Scenario 3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65D02EC-9223-AEB4-54DA-2A8166697497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0800000" flipV="1">
            <a:off x="189706" y="1690688"/>
            <a:ext cx="11812588" cy="3741735"/>
          </a:xfrm>
        </p:spPr>
        <p:txBody>
          <a:bodyPr/>
          <a:lstStyle/>
          <a:p>
            <a:pPr>
              <a:buNone/>
            </a:pPr>
            <a:r>
              <a:rPr lang="nl-BE" sz="2400" b="1" dirty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Test of </a:t>
            </a:r>
            <a:r>
              <a:rPr lang="nl-BE" sz="2400" b="1" dirty="0" smtClean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concept</a:t>
            </a: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r>
              <a:rPr lang="fr-FR" altLang="fr-FR" dirty="0" smtClean="0"/>
              <a:t>Secure </a:t>
            </a:r>
            <a:r>
              <a:rPr lang="fr-FR" altLang="fr-FR" dirty="0"/>
              <a:t>API </a:t>
            </a:r>
            <a:r>
              <a:rPr lang="fr-FR" altLang="fr-FR" dirty="0" err="1" smtClean="0"/>
              <a:t>request</a:t>
            </a:r>
            <a:r>
              <a:rPr lang="fr-FR" altLang="fr-FR" dirty="0" smtClean="0"/>
              <a:t>: </a:t>
            </a:r>
            <a:r>
              <a:rPr lang="fr-FR" altLang="fr-FR" dirty="0"/>
              <a:t>(</a:t>
            </a:r>
            <a:r>
              <a:rPr lang="fr-FR" altLang="fr-FR" dirty="0" smtClean="0">
                <a:latin typeface="Arial Unicode MS"/>
              </a:rPr>
              <a:t>POST[base] </a:t>
            </a:r>
            <a:r>
              <a:rPr lang="en-US" dirty="0" smtClean="0"/>
              <a:t>/$</a:t>
            </a:r>
            <a:r>
              <a:rPr lang="en-US" dirty="0" err="1"/>
              <a:t>globalevaluatefrailtyscoring</a:t>
            </a:r>
            <a:r>
              <a:rPr lang="fr-FR" altLang="fr-FR" dirty="0" smtClean="0"/>
              <a:t>) </a:t>
            </a:r>
            <a:endParaRPr lang="fr-FR" altLang="fr-FR" dirty="0" smtClean="0">
              <a:latin typeface="Arial" panose="020B0604020202020204" pitchFamily="34" charset="0"/>
            </a:endParaRPr>
          </a:p>
          <a:p>
            <a:pPr>
              <a:buNone/>
            </a:pPr>
            <a:r>
              <a:rPr lang="fr-FR" altLang="fr-FR" dirty="0" smtClean="0">
                <a:latin typeface="Arial" panose="020B0604020202020204" pitchFamily="34" charset="0"/>
              </a:rPr>
              <a:t>Use </a:t>
            </a:r>
            <a:r>
              <a:rPr lang="fr-FR" altLang="fr-FR" dirty="0">
                <a:latin typeface="Arial" panose="020B0604020202020204" pitchFamily="34" charset="0"/>
              </a:rPr>
              <a:t>CQL (</a:t>
            </a:r>
            <a:r>
              <a:rPr lang="fr-FR" altLang="fr-FR" dirty="0" err="1">
                <a:latin typeface="Arial" panose="020B0604020202020204" pitchFamily="34" charset="0"/>
              </a:rPr>
              <a:t>Clinical</a:t>
            </a: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latin typeface="Arial" panose="020B0604020202020204" pitchFamily="34" charset="0"/>
              </a:rPr>
              <a:t>Quality</a:t>
            </a: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latin typeface="Arial" panose="020B0604020202020204" pitchFamily="34" charset="0"/>
              </a:rPr>
              <a:t>Language</a:t>
            </a:r>
            <a:r>
              <a:rPr lang="fr-FR" altLang="fr-FR" dirty="0">
                <a:latin typeface="Arial" panose="020B0604020202020204" pitchFamily="34" charset="0"/>
              </a:rPr>
              <a:t>) </a:t>
            </a:r>
            <a:r>
              <a:rPr lang="fr-FR" altLang="fr-FR" dirty="0" err="1">
                <a:latin typeface="Arial" panose="020B0604020202020204" pitchFamily="34" charset="0"/>
              </a:rPr>
              <a:t>logic</a:t>
            </a:r>
            <a:r>
              <a:rPr lang="fr-FR" altLang="fr-FR" dirty="0">
                <a:latin typeface="Arial" panose="020B0604020202020204" pitchFamily="34" charset="0"/>
              </a:rPr>
              <a:t> to </a:t>
            </a:r>
            <a:r>
              <a:rPr lang="fr-FR" altLang="fr-FR" dirty="0" err="1">
                <a:latin typeface="Arial" panose="020B0604020202020204" pitchFamily="34" charset="0"/>
              </a:rPr>
              <a:t>calculate</a:t>
            </a: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altLang="fr-FR" dirty="0" err="1">
                <a:latin typeface="Arial" panose="020B0604020202020204" pitchFamily="34" charset="0"/>
              </a:rPr>
              <a:t>frailty</a:t>
            </a:r>
            <a:r>
              <a:rPr lang="fr-FR" altLang="fr-FR" dirty="0">
                <a:latin typeface="Arial" panose="020B0604020202020204" pitchFamily="34" charset="0"/>
              </a:rPr>
              <a:t> scores </a:t>
            </a:r>
            <a:r>
              <a:rPr lang="fr-FR" altLang="fr-FR" dirty="0" err="1">
                <a:latin typeface="Arial" panose="020B0604020202020204" pitchFamily="34" charset="0"/>
              </a:rPr>
              <a:t>based</a:t>
            </a:r>
            <a:r>
              <a:rPr lang="fr-FR" altLang="fr-FR" dirty="0">
                <a:latin typeface="Arial" panose="020B0604020202020204" pitchFamily="34" charset="0"/>
              </a:rPr>
              <a:t> on the SEGA </a:t>
            </a:r>
            <a:r>
              <a:rPr lang="fr-FR" altLang="fr-FR" dirty="0" err="1">
                <a:latin typeface="Arial" panose="020B0604020202020204" pitchFamily="34" charset="0"/>
              </a:rPr>
              <a:t>tool</a:t>
            </a:r>
            <a:r>
              <a:rPr lang="fr-FR" altLang="fr-FR" dirty="0">
                <a:latin typeface="Arial" panose="020B0604020202020204" pitchFamily="34" charset="0"/>
              </a:rPr>
              <a:t> and package </a:t>
            </a:r>
            <a:r>
              <a:rPr lang="fr-FR" altLang="fr-FR" dirty="0" err="1" smtClean="0">
                <a:latin typeface="Arial" panose="020B0604020202020204" pitchFamily="34" charset="0"/>
              </a:rPr>
              <a:t>results</a:t>
            </a:r>
            <a:r>
              <a:rPr lang="fr-FR" altLang="fr-FR" dirty="0" smtClean="0">
                <a:latin typeface="Arial" panose="020B0604020202020204" pitchFamily="34" charset="0"/>
              </a:rPr>
              <a:t>. </a:t>
            </a:r>
            <a:r>
              <a:rPr lang="fr-FR" altLang="fr-FR" dirty="0" smtClean="0"/>
              <a:t> </a:t>
            </a:r>
          </a:p>
          <a:p>
            <a:pPr>
              <a:buNone/>
            </a:pPr>
            <a:r>
              <a:rPr lang="fr-FR" altLang="fr-FR" dirty="0" err="1" smtClean="0"/>
              <a:t>These</a:t>
            </a:r>
            <a:r>
              <a:rPr lang="fr-FR" altLang="fr-FR" dirty="0" smtClean="0"/>
              <a:t> </a:t>
            </a:r>
            <a:r>
              <a:rPr lang="fr-FR" altLang="fr-FR" dirty="0"/>
              <a:t>are </a:t>
            </a:r>
            <a:r>
              <a:rPr lang="fr-FR" altLang="fr-FR" dirty="0" err="1"/>
              <a:t>shared</a:t>
            </a:r>
            <a:r>
              <a:rPr lang="fr-FR" altLang="fr-FR" dirty="0"/>
              <a:t> </a:t>
            </a:r>
            <a:r>
              <a:rPr lang="fr-FR" altLang="fr-FR" dirty="0" err="1"/>
              <a:t>with</a:t>
            </a:r>
            <a:r>
              <a:rPr lang="fr-FR" altLang="fr-FR" dirty="0"/>
              <a:t> a </a:t>
            </a:r>
            <a:r>
              <a:rPr lang="fr-FR" altLang="fr-FR" dirty="0" err="1"/>
              <a:t>dedicated</a:t>
            </a:r>
            <a:r>
              <a:rPr lang="fr-FR" altLang="fr-FR" dirty="0"/>
              <a:t> application, </a:t>
            </a:r>
            <a:r>
              <a:rPr lang="fr-FR" altLang="fr-FR" dirty="0" err="1"/>
              <a:t>where</a:t>
            </a:r>
            <a:r>
              <a:rPr lang="fr-FR" altLang="fr-FR" dirty="0"/>
              <a:t> the </a:t>
            </a:r>
            <a:r>
              <a:rPr lang="fr-FR" altLang="fr-FR" dirty="0" err="1"/>
              <a:t>physician</a:t>
            </a:r>
            <a:r>
              <a:rPr lang="fr-FR" altLang="fr-FR" dirty="0"/>
              <a:t> </a:t>
            </a:r>
            <a:r>
              <a:rPr lang="fr-FR" altLang="fr-FR" dirty="0" err="1"/>
              <a:t>can</a:t>
            </a:r>
            <a:r>
              <a:rPr lang="fr-FR" altLang="fr-FR" dirty="0"/>
              <a:t> </a:t>
            </a:r>
            <a:r>
              <a:rPr lang="fr-FR" altLang="fr-FR" dirty="0" err="1"/>
              <a:t>consult</a:t>
            </a:r>
            <a:r>
              <a:rPr lang="fr-FR" altLang="fr-FR" dirty="0"/>
              <a:t> the </a:t>
            </a:r>
            <a:r>
              <a:rPr lang="fr-FR" altLang="fr-FR" dirty="0" err="1"/>
              <a:t>status</a:t>
            </a:r>
            <a:r>
              <a:rPr lang="fr-FR" altLang="fr-FR" dirty="0"/>
              <a:t> and </a:t>
            </a:r>
            <a:r>
              <a:rPr lang="fr-FR" altLang="fr-FR" dirty="0" err="1"/>
              <a:t>history</a:t>
            </a:r>
            <a:r>
              <a:rPr lang="fr-FR" altLang="fr-FR" dirty="0"/>
              <a:t> (</a:t>
            </a:r>
            <a:r>
              <a:rPr lang="fr-FR" altLang="fr-FR" dirty="0" err="1"/>
              <a:t>e.g</a:t>
            </a:r>
            <a:r>
              <a:rPr lang="fr-FR" altLang="fr-FR" dirty="0"/>
              <a:t>., </a:t>
            </a:r>
            <a:r>
              <a:rPr lang="fr-FR" altLang="fr-FR" dirty="0" err="1"/>
              <a:t>falls</a:t>
            </a:r>
            <a:r>
              <a:rPr lang="fr-FR" altLang="fr-FR" dirty="0"/>
              <a:t>, conditions) to </a:t>
            </a:r>
            <a:r>
              <a:rPr lang="fr-FR" altLang="fr-FR" dirty="0" err="1"/>
              <a:t>tailor</a:t>
            </a:r>
            <a:r>
              <a:rPr lang="fr-FR" altLang="fr-FR" dirty="0"/>
              <a:t> care plans. </a:t>
            </a:r>
            <a:endParaRPr lang="fr-FR" altLang="fr-FR" dirty="0">
              <a:latin typeface="Arial" panose="020B0604020202020204" pitchFamily="34" charset="0"/>
            </a:endParaRPr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</a:endParaRPr>
          </a:p>
          <a:p>
            <a:pPr marL="0" indent="0">
              <a:buNone/>
            </a:pPr>
            <a:endParaRPr lang="nl-BE" dirty="0">
              <a:latin typeface="Open Sans"/>
              <a:ea typeface="Open Sans"/>
              <a:cs typeface="Open San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07F50F7-62D5-A601-DF73-198762D24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970697-AD87-4807-B496-E55323FB97B2}" type="slidenum">
              <a:rPr lang="nl-BE" smtClean="0"/>
              <a:pPr>
                <a:defRPr/>
              </a:pPr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7015831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48C61-B3D4-2F0D-055B-AF9A72E2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BB54F2-9492-AA6D-314B-6C30FBB60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latin typeface="Open Sans"/>
                <a:ea typeface="Open Sans"/>
                <a:cs typeface="Open Sans"/>
              </a:rPr>
              <a:t>Scenario 3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91CD6D5-42E4-74A2-2D03-C9C10272F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255" y="1690688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nl-BE" sz="2400" b="1" dirty="0" smtClean="0">
                <a:solidFill>
                  <a:srgbClr val="40E4AD"/>
                </a:solidFill>
                <a:latin typeface="Open Sans"/>
                <a:ea typeface="Open Sans"/>
                <a:cs typeface="Open Sans"/>
              </a:rPr>
              <a:t>Delivery</a:t>
            </a: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r>
              <a:rPr lang="nl-BE" sz="2400" dirty="0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CQL Logic : </a:t>
            </a:r>
            <a:r>
              <a:rPr lang="nl-BE" sz="2400" dirty="0" err="1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the</a:t>
            </a:r>
            <a:r>
              <a:rPr lang="nl-BE" sz="2400" dirty="0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</a:t>
            </a:r>
            <a:r>
              <a:rPr lang="nl-BE" sz="2400" dirty="0" err="1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Clinical</a:t>
            </a:r>
            <a:r>
              <a:rPr lang="nl-BE" sz="2400" dirty="0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</a:t>
            </a:r>
            <a:r>
              <a:rPr lang="nl-BE" sz="2400" dirty="0" err="1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Q</a:t>
            </a:r>
            <a:r>
              <a:rPr lang="nl-BE" sz="2400" dirty="0" err="1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uality</a:t>
            </a:r>
            <a:r>
              <a:rPr lang="nl-BE" sz="2400" dirty="0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Language script is </a:t>
            </a:r>
            <a:r>
              <a:rPr lang="nl-BE" sz="2400" dirty="0" err="1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used</a:t>
            </a:r>
            <a:r>
              <a:rPr lang="nl-BE" sz="2400" dirty="0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</a:t>
            </a:r>
            <a:r>
              <a:rPr lang="nl-BE" sz="2400" dirty="0" err="1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to</a:t>
            </a:r>
            <a:r>
              <a:rPr lang="nl-BE" sz="2400" dirty="0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</a:t>
            </a:r>
            <a:r>
              <a:rPr lang="nl-BE" sz="2400" dirty="0" err="1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compute</a:t>
            </a:r>
            <a:r>
              <a:rPr lang="nl-BE" sz="2400" dirty="0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 </a:t>
            </a:r>
          </a:p>
          <a:p>
            <a:pPr>
              <a:buNone/>
            </a:pPr>
            <a:r>
              <a:rPr lang="nl-BE" sz="2400" dirty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</a:t>
            </a:r>
            <a:r>
              <a:rPr lang="nl-BE" sz="2400" dirty="0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                   </a:t>
            </a:r>
            <a:r>
              <a:rPr lang="nl-BE" sz="2400" dirty="0" err="1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frailty</a:t>
            </a:r>
            <a:r>
              <a:rPr lang="nl-BE" sz="2400" dirty="0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score. </a:t>
            </a:r>
          </a:p>
          <a:p>
            <a:pPr>
              <a:buNone/>
            </a:pPr>
            <a:r>
              <a:rPr lang="nl-BE" sz="2400" dirty="0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FHIR </a:t>
            </a:r>
            <a:r>
              <a:rPr lang="nl-BE" sz="2400" dirty="0" err="1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and</a:t>
            </a:r>
            <a:r>
              <a:rPr lang="nl-BE" sz="2400" dirty="0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</a:t>
            </a:r>
            <a:r>
              <a:rPr lang="nl-BE" sz="2400" dirty="0" err="1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Snomed</a:t>
            </a:r>
            <a:r>
              <a:rPr lang="nl-BE" sz="2400" dirty="0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CT codes </a:t>
            </a:r>
            <a:r>
              <a:rPr lang="nl-BE" sz="2400" dirty="0" err="1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for</a:t>
            </a:r>
            <a:r>
              <a:rPr lang="nl-BE" sz="2400" dirty="0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</a:t>
            </a:r>
            <a:r>
              <a:rPr lang="nl-BE" sz="2400" dirty="0" err="1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clinical</a:t>
            </a:r>
            <a:r>
              <a:rPr lang="nl-BE" sz="2400" dirty="0" smtClean="0"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 data compliance.</a:t>
            </a:r>
          </a:p>
          <a:p>
            <a:pPr>
              <a:buNone/>
            </a:pPr>
            <a:r>
              <a:rPr lang="fr-FR" altLang="fr-FR" sz="2400" dirty="0" smtClean="0"/>
              <a:t>Front end : </a:t>
            </a:r>
            <a:r>
              <a:rPr lang="fr-FR" altLang="fr-FR" sz="2400" dirty="0" err="1" smtClean="0"/>
              <a:t>dedicated</a:t>
            </a:r>
            <a:r>
              <a:rPr lang="fr-FR" altLang="fr-FR" sz="2400" dirty="0" smtClean="0"/>
              <a:t> </a:t>
            </a:r>
            <a:r>
              <a:rPr lang="fr-FR" altLang="fr-FR" sz="2400" dirty="0"/>
              <a:t>application, </a:t>
            </a:r>
            <a:r>
              <a:rPr lang="fr-FR" altLang="fr-FR" sz="2400" dirty="0" err="1"/>
              <a:t>where</a:t>
            </a:r>
            <a:r>
              <a:rPr lang="fr-FR" altLang="fr-FR" sz="2400" dirty="0"/>
              <a:t> the </a:t>
            </a:r>
            <a:r>
              <a:rPr lang="fr-FR" altLang="fr-FR" sz="2400" dirty="0" err="1"/>
              <a:t>physician</a:t>
            </a:r>
            <a:r>
              <a:rPr lang="fr-FR" altLang="fr-FR" sz="2400" dirty="0"/>
              <a:t> </a:t>
            </a:r>
            <a:r>
              <a:rPr lang="fr-FR" altLang="fr-FR" sz="2400" dirty="0" err="1"/>
              <a:t>can</a:t>
            </a:r>
            <a:r>
              <a:rPr lang="fr-FR" altLang="fr-FR" sz="2400" dirty="0"/>
              <a:t> </a:t>
            </a:r>
            <a:r>
              <a:rPr lang="fr-FR" altLang="fr-FR" sz="2400" dirty="0" err="1"/>
              <a:t>consult</a:t>
            </a:r>
            <a:r>
              <a:rPr lang="fr-FR" altLang="fr-FR" sz="2400" dirty="0"/>
              <a:t> the </a:t>
            </a:r>
            <a:r>
              <a:rPr lang="fr-FR" altLang="fr-FR" sz="2400" dirty="0" smtClean="0"/>
              <a:t>patient </a:t>
            </a:r>
            <a:r>
              <a:rPr lang="fr-FR" altLang="fr-FR" sz="2400" dirty="0" err="1" smtClean="0"/>
              <a:t>status</a:t>
            </a:r>
            <a:r>
              <a:rPr lang="fr-FR" altLang="fr-FR" sz="2400" dirty="0" smtClean="0"/>
              <a:t> </a:t>
            </a:r>
            <a:r>
              <a:rPr lang="fr-FR" altLang="fr-FR" sz="2400" dirty="0"/>
              <a:t>and </a:t>
            </a:r>
            <a:r>
              <a:rPr lang="fr-FR" altLang="fr-FR" sz="2400" dirty="0" err="1"/>
              <a:t>history</a:t>
            </a:r>
            <a:r>
              <a:rPr lang="fr-FR" altLang="fr-FR" sz="2400" dirty="0"/>
              <a:t> (</a:t>
            </a:r>
            <a:r>
              <a:rPr lang="fr-FR" altLang="fr-FR" sz="2400" dirty="0" err="1"/>
              <a:t>e.g</a:t>
            </a:r>
            <a:r>
              <a:rPr lang="fr-FR" altLang="fr-FR" sz="2400" dirty="0"/>
              <a:t>., </a:t>
            </a:r>
            <a:r>
              <a:rPr lang="fr-FR" altLang="fr-FR" sz="2400" dirty="0" err="1"/>
              <a:t>falls</a:t>
            </a:r>
            <a:r>
              <a:rPr lang="fr-FR" altLang="fr-FR" sz="2400" dirty="0"/>
              <a:t>, conditions) to </a:t>
            </a:r>
            <a:r>
              <a:rPr lang="fr-FR" altLang="fr-FR" sz="2400" dirty="0" err="1"/>
              <a:t>tailor</a:t>
            </a:r>
            <a:r>
              <a:rPr lang="fr-FR" altLang="fr-FR" sz="2400" dirty="0"/>
              <a:t> care </a:t>
            </a:r>
            <a:r>
              <a:rPr lang="fr-FR" altLang="fr-FR" sz="2400" dirty="0" smtClean="0"/>
              <a:t>plans. </a:t>
            </a:r>
            <a:endParaRPr lang="nl-BE" sz="2400" dirty="0" smtClean="0">
              <a:latin typeface="Arial" panose="020B0604020202020204" pitchFamily="34" charset="0"/>
              <a:ea typeface="Open Sans"/>
              <a:cs typeface="Arial" panose="020B0604020202020204" pitchFamily="34" charset="0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>
              <a:buNone/>
            </a:pPr>
            <a:endParaRPr lang="nl-BE" sz="2400" b="1" dirty="0">
              <a:solidFill>
                <a:srgbClr val="40E4AD"/>
              </a:solidFill>
              <a:latin typeface="Open Sans"/>
            </a:endParaRPr>
          </a:p>
          <a:p>
            <a:pPr>
              <a:buNone/>
            </a:pPr>
            <a:endParaRPr lang="nl-BE" sz="2400" b="1" dirty="0" smtClean="0">
              <a:solidFill>
                <a:srgbClr val="40E4AD"/>
              </a:solidFill>
            </a:endParaRPr>
          </a:p>
          <a:p>
            <a:pPr marL="0" indent="0">
              <a:buNone/>
            </a:pPr>
            <a:endParaRPr lang="nl-BE" sz="2400" b="1" dirty="0">
              <a:solidFill>
                <a:srgbClr val="40E4AD"/>
              </a:solidFill>
              <a:latin typeface="Open Sans"/>
              <a:ea typeface="Open Sans"/>
              <a:cs typeface="Open Sans"/>
            </a:endParaRPr>
          </a:p>
          <a:p>
            <a:pPr marL="0" indent="0">
              <a:buNone/>
            </a:pPr>
            <a:endParaRPr lang="nl-BE" dirty="0">
              <a:latin typeface="Open Sans"/>
              <a:ea typeface="Open Sans"/>
              <a:cs typeface="Open San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3828C00-932F-63CE-C091-07C5DBF45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970697-AD87-4807-B496-E55323FB97B2}" type="slidenum">
              <a:rPr lang="nl-BE" smtClean="0"/>
              <a:pPr>
                <a:defRPr/>
              </a:pPr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85742429"/>
      </p:ext>
    </p:extLst>
  </p:cSld>
  <p:clrMapOvr>
    <a:masterClrMapping/>
  </p:clrMapOvr>
  <p:extLst mod="1">
    <p:ext uri="{6950BFC3-D8DA-4A85-94F7-54DA5524770B}">
      <p188:commentRel xmlns=""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dertitel 1">
            <a:extLst>
              <a:ext uri="{FF2B5EF4-FFF2-40B4-BE49-F238E27FC236}">
                <a16:creationId xmlns:a16="http://schemas.microsoft.com/office/drawing/2014/main" id="{C1AD63B2-56C3-C02B-B076-C6C67DB758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AA23CA5-FE1A-E5E2-8359-643389243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Thanks</a:t>
            </a:r>
            <a:r>
              <a:rPr lang="nl-BE" dirty="0" smtClean="0"/>
              <a:t> 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2635962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ick Off_Data Capabilities_20231107" id="{FD98DD9C-6122-4056-A375-2028E0ABEBDE}" vid="{739CBE24-2E49-49AD-8CEC-11800D90879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8F79DD0367C34E8D8B2378D97618E3" ma:contentTypeVersion="8" ma:contentTypeDescription="Een nieuw document maken." ma:contentTypeScope="" ma:versionID="b8cbcb6c31a18c1213831e6848c8a77b">
  <xsd:schema xmlns:xsd="http://www.w3.org/2001/XMLSchema" xmlns:xs="http://www.w3.org/2001/XMLSchema" xmlns:p="http://schemas.microsoft.com/office/2006/metadata/properties" xmlns:ns2="39321b21-8c34-44c8-8747-150a08132587" targetNamespace="http://schemas.microsoft.com/office/2006/metadata/properties" ma:root="true" ma:fieldsID="43177d52331451a3a5e42787cf262af3" ns2:_="">
    <xsd:import namespace="39321b21-8c34-44c8-8747-150a081325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321b21-8c34-44c8-8747-150a081325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29B9C2-13C8-4E04-9B70-58B5FC9D6D63}">
  <ds:schemaRefs>
    <ds:schemaRef ds:uri="http://purl.org/dc/terms/"/>
    <ds:schemaRef ds:uri="http://schemas.openxmlformats.org/package/2006/metadata/core-properties"/>
    <ds:schemaRef ds:uri="39321b21-8c34-44c8-8747-150a08132587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D238457-9747-4FA4-9093-D923DC670D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321b21-8c34-44c8-8747-150a081325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1722CFE-D17A-4D2F-9E1B-C68EBCD5081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6c008a4-b565-49a9-93c9-c1e64cad2e11}" enabled="0" method="" siteId="{66c008a4-b565-49a9-93c9-c1e64cad2e1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Kick Off_Data Capabilities_20231107</Template>
  <TotalTime>1204</TotalTime>
  <Words>688</Words>
  <Application>Microsoft Office PowerPoint</Application>
  <PresentationFormat>Grand écran</PresentationFormat>
  <Paragraphs>146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Arial Unicode MS</vt:lpstr>
      <vt:lpstr>Calibri</vt:lpstr>
      <vt:lpstr>DM Serif Text</vt:lpstr>
      <vt:lpstr>Open Sans</vt:lpstr>
      <vt:lpstr>Kantoorthema</vt:lpstr>
      <vt:lpstr>QualiFHIR </vt:lpstr>
      <vt:lpstr>Agenda</vt:lpstr>
      <vt:lpstr>Scenario 1 Infectious Disease Clinical Note Exchange</vt:lpstr>
      <vt:lpstr>Scenario 1</vt:lpstr>
      <vt:lpstr>Scenario 1</vt:lpstr>
      <vt:lpstr>Scenario 1</vt:lpstr>
      <vt:lpstr>Scenario 2 Cross-Hospital IPS Exchange (International Patient Summary)</vt:lpstr>
      <vt:lpstr>Scenario 2</vt:lpstr>
      <vt:lpstr>Scenario 2</vt:lpstr>
      <vt:lpstr>Scenario 2</vt:lpstr>
      <vt:lpstr>Scenario 3 Frailty Evaluation Using SEGA &amp; CQL</vt:lpstr>
      <vt:lpstr>Scenario 3</vt:lpstr>
      <vt:lpstr>Scenario 3</vt:lpstr>
      <vt:lpstr>Scenario 3</vt:lpstr>
      <vt:lpstr>Thanks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 Off - Data Capabilities</dc:title>
  <dc:creator>Andries Nelissen (SPF Santé Publique - FOD Volksgezondheid)</dc:creator>
  <cp:lastModifiedBy>DETRAIT Marie</cp:lastModifiedBy>
  <cp:revision>61</cp:revision>
  <dcterms:created xsi:type="dcterms:W3CDTF">2023-11-07T13:20:56Z</dcterms:created>
  <dcterms:modified xsi:type="dcterms:W3CDTF">2025-07-09T14:42:21Z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0x010100458F79DD0367C34E8D8B2378D97618E3</vt:lpwstr>
  </property>
  <property fmtid="{D5CDD505-2E9C-101B-9397-08002B2CF9AE}" pid="3" name="_dlc_DocIdItemGuid">
    <vt:lpwstr>c7d110af-408c-4fea-a1d3-b0261b9e98cf</vt:lpwstr>
  </property>
  <property fmtid="{D5CDD505-2E9C-101B-9397-08002B2CF9AE}" pid="4" name="MediaServiceImageTags">
    <vt:lpwstr/>
  </property>
  <property fmtid="{D5CDD505-2E9C-101B-9397-08002B2CF9AE}" pid="5" name="Order">
    <vt:r8>72500</vt:r8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lpwstr/>
  </property>
</Properties>
</file>